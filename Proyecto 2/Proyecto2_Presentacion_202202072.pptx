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Inter"/>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 </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85FFF42-9AAA-4CB2-89FE-24281C01985F}" type="slidenum">
              <a:rPr lang="en-US" sz="1400" b="0" u="none" strike="noStrike">
                <a:solidFill>
                  <a:srgbClr val="000000"/>
                </a:solidFill>
                <a:effectLst/>
                <a:uFillTx/>
                <a:latin typeface="Times New Roman"/>
              </a:rPr>
              <a:t>‹Nº›</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PlaceHolder 1"/>
          <p:cNvSpPr>
            <a:spLocks noGrp="1" noRot="1" noChangeAspect="1"/>
          </p:cNvSpPr>
          <p:nvPr>
            <p:ph type="sldImg"/>
          </p:nvPr>
        </p:nvSpPr>
        <p:spPr>
          <a:xfrm>
            <a:off x="685800" y="1143000"/>
            <a:ext cx="5486040" cy="3085920"/>
          </a:xfrm>
          <a:prstGeom prst="rect">
            <a:avLst/>
          </a:prstGeom>
          <a:ln w="0">
            <a:noFill/>
          </a:ln>
        </p:spPr>
      </p:sp>
      <p:sp>
        <p:nvSpPr>
          <p:cNvPr id="2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APERTURA (30-40 segundos),“Buenos días. Mi propuesta consiste en conectar tres empresas proveedoras de telecomunicaciones: FibraNet, AndinaCom y MoonLink. La idea es sencilla: aunque cada empresa tenga su propia red, sus usuarios deben poder comunicarse y acceder a servicios comunes de forma segura. Durante la exposición voy a mostrar cómo las conectamos, qué pasa si un equipo falla y cómo comprobamos que funciona.”,FRASE PARA RECORDAR: Tres empresas que trabajan como una red conectada.</a:t>
            </a:r>
          </a:p>
        </p:txBody>
      </p:sp>
      <p:sp>
        <p:nvSpPr>
          <p:cNvPr id="260"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F6646B2-C766-4992-8F4E-6CCC722E21B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PlaceHolder 1"/>
          <p:cNvSpPr>
            <a:spLocks noGrp="1" noRot="1" noChangeAspect="1"/>
          </p:cNvSpPr>
          <p:nvPr>
            <p:ph type="sldImg"/>
          </p:nvPr>
        </p:nvSpPr>
        <p:spPr>
          <a:xfrm>
            <a:off x="685800" y="1143000"/>
            <a:ext cx="5486040" cy="3085920"/>
          </a:xfrm>
          <a:prstGeom prst="rect">
            <a:avLst/>
          </a:prstGeom>
          <a:ln w="0">
            <a:noFill/>
          </a:ln>
        </p:spPr>
      </p:sp>
      <p:sp>
        <p:nvSpPr>
          <p:cNvPr id="2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EL PROBLEMA (35 segundos),“Imaginemos que las tres empresas son como tres sedes que tienen sus computadoras, pero no tienen carreteras entre ellas. Cada una funciona por separado, aunque necesite compartir información. Mi reto fue crear esos caminos, hacer que los usuarios recibieran sus direcciones automáticamente y definir reglas para evitar comunicaciones no permitidas. O sea, no se trató solo de conectar cables, sino de lograr una comunicación organizada.”,FRASE PARA RECORDAR: Conectar, compartir y proteger.</a:t>
            </a:r>
          </a:p>
        </p:txBody>
      </p:sp>
      <p:sp>
        <p:nvSpPr>
          <p:cNvPr id="263"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090FCEE-8B88-4316-A20D-236F7C5CEE84}"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PlaceHolder 1"/>
          <p:cNvSpPr>
            <a:spLocks noGrp="1" noRot="1" noChangeAspect="1"/>
          </p:cNvSpPr>
          <p:nvPr>
            <p:ph type="sldImg"/>
          </p:nvPr>
        </p:nvSpPr>
        <p:spPr>
          <a:xfrm>
            <a:off x="685800" y="1143000"/>
            <a:ext cx="5486040" cy="3085920"/>
          </a:xfrm>
          <a:prstGeom prst="rect">
            <a:avLst/>
          </a:prstGeom>
          <a:ln w="0">
            <a:noFill/>
          </a:ln>
        </p:spPr>
      </p:sp>
      <p:sp>
        <p:nvSpPr>
          <p:cNvPr id="2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INTERCONEXIÓN (40 segundos),“Para unir a los tres proveedores usamos BGP. Pensalo como una guía de carreteras: cada empresa le dice a las otras cuáles son sus redes y por dónde se puede llegar. De esa forma, una computadora de MoonLink puede encontrar un servicio que está en FibraNet. Cada proveedor conserva su organización interna, pero BGP les da un idioma común para comunicarse. Los tres routers principales están conectados entre sí.”,FRASE PARA RECORDAR: BGP es la guía de caminos entre empresas.</a:t>
            </a:r>
          </a:p>
        </p:txBody>
      </p:sp>
      <p:sp>
        <p:nvSpPr>
          <p:cNvPr id="266"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C1DDC6-D8AE-4E54-B86A-2F8A10039129}"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PlaceHolder 1"/>
          <p:cNvSpPr>
            <a:spLocks noGrp="1" noRot="1" noChangeAspect="1"/>
          </p:cNvSpPr>
          <p:nvPr>
            <p:ph type="sldImg"/>
          </p:nvPr>
        </p:nvSpPr>
        <p:spPr>
          <a:xfrm>
            <a:off x="685800" y="1143000"/>
            <a:ext cx="5486040" cy="3085920"/>
          </a:xfrm>
          <a:prstGeom prst="rect">
            <a:avLst/>
          </a:prstGeom>
          <a:ln w="0">
            <a:noFill/>
          </a:ln>
        </p:spPr>
      </p:sp>
      <p:sp>
        <p:nvSpPr>
          <p:cNvPr id="2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QUÉ HACE CADA EMPRESA (40-45 segundos),“Dividimos el trabajo. FibraNet tiene el servidor de nombres y la página web. Si alguien escribe el nombre del sitio, FibraNet ayuda a encontrarlo. AndinaCom proporciona DHCP, que entrega una dirección IP automáticamente, como cuando un hotel asigna una habitación; además usa HSRP como respaldo. MoonLink conecta Soporte y Seguridad y ofrece WiFi. Internamente FibraNet y AndinaCom usan OSPF y MoonLink usa EIGRP: los dos ayudan a encontrar rutas dentro de cada empresa.”,FRASE PARA RECORDAR: FibraNet informa; AndinaCom asigna; MoonLink conecta.</a:t>
            </a:r>
          </a:p>
        </p:txBody>
      </p:sp>
      <p:sp>
        <p:nvSpPr>
          <p:cNvPr id="269"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2088ABA-87D9-479D-94AE-7F343417E64F}"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PlaceHolder 1"/>
          <p:cNvSpPr>
            <a:spLocks noGrp="1" noRot="1" noChangeAspect="1"/>
          </p:cNvSpPr>
          <p:nvPr>
            <p:ph type="sldImg"/>
          </p:nvPr>
        </p:nvSpPr>
        <p:spPr>
          <a:xfrm>
            <a:off x="685800" y="1143000"/>
            <a:ext cx="5486040" cy="3085920"/>
          </a:xfrm>
          <a:prstGeom prst="rect">
            <a:avLst/>
          </a:prstGeom>
          <a:ln w="0">
            <a:noFill/>
          </a:ln>
        </p:spPr>
      </p:sp>
      <p:sp>
        <p:nvSpPr>
          <p:cNvPr id="2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CÓMO FUNCIONA EN LA PRÁCTICA (45 segundos),“Este es mi ejemplo favorito porque conecta todo. Una computadora de MoonLink se conecta. Primero recibe una IP automática desde AndinaCom gracias a DHCP. Luego, cuando el usuario escribe nuestro dominio, el servidor DNS de FibraNet le dice cuál es la IP de la página. Finalmente, la computadora abre el sitio web de FibraNet. Es como llamar a información para conseguir una dirección y luego viajar hasta ese lugar. Lo importante es que los tres proveedores cooperan sin que el usuario tenga que hacer configuraciones.”,FRASE PARA RECORDAR: Conectarse, recibir IP, buscar el nombre y abrir la página.</a:t>
            </a:r>
          </a:p>
        </p:txBody>
      </p:sp>
      <p:sp>
        <p:nvSpPr>
          <p:cNvPr id="272"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9B4C789-4F92-4CBF-BF70-802C50DEFE34}"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PlaceHolder 1"/>
          <p:cNvSpPr>
            <a:spLocks noGrp="1" noRot="1" noChangeAspect="1"/>
          </p:cNvSpPr>
          <p:nvPr>
            <p:ph type="sldImg"/>
          </p:nvPr>
        </p:nvSpPr>
        <p:spPr>
          <a:xfrm>
            <a:off x="685800" y="1143000"/>
            <a:ext cx="5486040" cy="3085920"/>
          </a:xfrm>
          <a:prstGeom prst="rect">
            <a:avLst/>
          </a:prstGeom>
          <a:ln w="0">
            <a:noFill/>
          </a:ln>
        </p:spPr>
      </p:sp>
      <p:sp>
        <p:nvSpPr>
          <p:cNvPr id="2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REDUNDANCIA (40 segundos),“Una de las cosas más importantes es no depender de un solo equipo. En AndinaCom configuré dos routers: normalmente uno trabaja y el otro está de respaldo. Con HSRP, si se pierde el enlace principal, el segundo puede asumir el control sin que los usuarios tengan que cambiar manualmente su puerta de enlace. Lo probé apagando temporalmente el enlace principal; el respaldo quedó activo y luego restauramos el principal. No significa que nunca vaya a haber una interrupción, pero sí que diseñamos una forma de recuperarnos.”,FRASE PARA RECORDAR: Si falla el titular, entra el suplente.</a:t>
            </a:r>
          </a:p>
        </p:txBody>
      </p:sp>
      <p:sp>
        <p:nvSpPr>
          <p:cNvPr id="275"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D85D75B-7D5A-4708-9223-9EF11F342E21}"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040" cy="3085920"/>
          </a:xfrm>
          <a:prstGeom prst="rect">
            <a:avLst/>
          </a:prstGeom>
          <a:ln w="0">
            <a:noFill/>
          </a:ln>
        </p:spPr>
      </p:sp>
      <p:sp>
        <p:nvSpPr>
          <p:cNvPr id="2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REGLAS DE SEGURIDAD (40 segundos),“No basta con que todos estén conectados. También hay que decidir quién puede entrar a qué departamento. Para eso usamos ACL, que son como reglas de un guardia de seguridad. Por ejemplo, Atención sí puede comunicarse con Ventas, pero no con Facturación. Y desde Ventas no permitimos iniciar comunicación hacia el departamento de Seguridad, aunque Seguridad sí puede comunicarse hacia fuera. Verifiqué 13 pruebas de ping y todas tuvieron el resultado esperado, incluso los bloqueos. Esto comprueba esas reglas para ICMP.”,FRASE PARA RECORDAR: Conectados, sí; acceso sin control, no.</a:t>
            </a:r>
          </a:p>
        </p:txBody>
      </p:sp>
      <p:sp>
        <p:nvSpPr>
          <p:cNvPr id="278"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E7C1AC0-D2A1-414A-85B6-BD45740ECA41}"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PlaceHolder 1"/>
          <p:cNvSpPr>
            <a:spLocks noGrp="1" noRot="1" noChangeAspect="1"/>
          </p:cNvSpPr>
          <p:nvPr>
            <p:ph type="sldImg"/>
          </p:nvPr>
        </p:nvSpPr>
        <p:spPr>
          <a:xfrm>
            <a:off x="685800" y="1143000"/>
            <a:ext cx="5486040" cy="3085920"/>
          </a:xfrm>
          <a:prstGeom prst="rect">
            <a:avLst/>
          </a:prstGeom>
          <a:ln w="0">
            <a:noFill/>
          </a:ln>
        </p:spPr>
      </p:sp>
      <p:sp>
        <p:nvSpPr>
          <p:cNvPr id="2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PRUEBAS (40-45 segundos),“Quiero destacar que no fue solo hacer un dibujo bonito en Packet Tracer. Probé 13 comunicaciones entre departamentos; las que debían pasar funcionaron y las que debían bloquearse se bloquearon. También cerré el archivo, lo volví a abrir y comprobé siete aspectos del proyecto, como los protocolos de enrutamiento, DHCP, la web y HSRP. Además generé una captura de 39 paquetes reales con Wireshark: TCP, DNS, HTTP, TLS e ICMP. Eso sirve para explicar qué ocurre realmente detrás de cada comunicación.”,FRASE PARA RECORDAR: Se configuró, se probó y se documentó.</a:t>
            </a:r>
          </a:p>
        </p:txBody>
      </p:sp>
      <p:sp>
        <p:nvSpPr>
          <p:cNvPr id="281"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60E1296-9526-47A6-B157-F1C973384207}"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PlaceHolder 1"/>
          <p:cNvSpPr>
            <a:spLocks noGrp="1" noRot="1" noChangeAspect="1"/>
          </p:cNvSpPr>
          <p:nvPr>
            <p:ph type="sldImg"/>
          </p:nvPr>
        </p:nvSpPr>
        <p:spPr>
          <a:xfrm>
            <a:off x="685800" y="1143000"/>
            <a:ext cx="5486040" cy="3085920"/>
          </a:xfrm>
          <a:prstGeom prst="rect">
            <a:avLst/>
          </a:prstGeom>
          <a:ln w="0">
            <a:noFill/>
          </a:ln>
        </p:spPr>
      </p:sp>
      <p:sp>
        <p:nvSpPr>
          <p:cNvPr id="2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COSTOS (35-40 segundos),“También estimé cuánto costaría montar una versión física de laboratorio. Usando precios orientativos de equipos reacondicionados, el presupuesto sería cercano a diecisiete mil quinientos dólares, incluida una reserva del quince por ciento para imprevistos. Los mayores costos serían los routers y switches, y los equipos finales. Ojo: esto no es una cotización para desplegar todo un país; faltan licencias, impuestos, mantenimiento, personal y enlaces reales. Sirve para demostrar que pensamos también en la viabilidad económica.”,FRASE PARA RECORDAR: Estimamos el costo, no prometemos un precio final.</a:t>
            </a:r>
          </a:p>
        </p:txBody>
      </p:sp>
      <p:sp>
        <p:nvSpPr>
          <p:cNvPr id="284"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D77238C-E4AF-4E6F-AB97-00AFA1DC1971}"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PlaceHolder 1"/>
          <p:cNvSpPr>
            <a:spLocks noGrp="1" noRot="1" noChangeAspect="1"/>
          </p:cNvSpPr>
          <p:nvPr>
            <p:ph type="sldImg"/>
          </p:nvPr>
        </p:nvSpPr>
        <p:spPr>
          <a:xfrm>
            <a:off x="685800" y="1143000"/>
            <a:ext cx="5486040" cy="3085920"/>
          </a:xfrm>
          <a:prstGeom prst="rect">
            <a:avLst/>
          </a:prstGeom>
          <a:ln w="0">
            <a:noFill/>
          </a:ln>
        </p:spPr>
      </p:sp>
      <p:sp>
        <p:nvSpPr>
          <p:cNvPr id="2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CIERRE (30-35 segundos),“En resumen, propongo una infraestructura que cumple tres objetivos: conecta a tres proveedores, ofrece respaldo ante ciertos fallos y mantiene reglas de seguridad entre departamentos. Ya tenemos una simulación funcional que permite comprobar esos objetivos antes de gastar en infraestructura real. Mi recomendación sería tomarla como una arquitectura inicial y, en una siguiente etapa, validar costos finales, capacidad y seguridad en un entorno físico. Muchas gracias.”,FRASE PARA RECORDAR: Conecta, resiste y protege.</a:t>
            </a:r>
          </a:p>
        </p:txBody>
      </p:sp>
      <p:sp>
        <p:nvSpPr>
          <p:cNvPr id="287"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E6F3A49-C1AA-4F85-97C6-C817F9E71F12}"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Inter"/>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Inter"/>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Inter"/>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Inter"/>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Inter"/>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Inter"/>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Inter"/>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Inter"/>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F34"/>
        </a:solidFill>
        <a:effectLst/>
      </p:bgPr>
    </p:bg>
    <p:spTree>
      <p:nvGrpSpPr>
        <p:cNvPr id="1" name=""/>
        <p:cNvGrpSpPr/>
        <p:nvPr/>
      </p:nvGrpSpPr>
      <p:grpSpPr>
        <a:xfrm>
          <a:off x="0" y="0"/>
          <a:ext cx="0" cy="0"/>
          <a:chOff x="0" y="0"/>
          <a:chExt cx="0" cy="0"/>
        </a:xfrm>
      </p:grpSpPr>
      <p:sp>
        <p:nvSpPr>
          <p:cNvPr id="8" name="Shape 0"/>
          <p:cNvSpPr/>
          <p:nvPr/>
        </p:nvSpPr>
        <p:spPr>
          <a:xfrm>
            <a:off x="594360" y="548640"/>
            <a:ext cx="2038680" cy="392760"/>
          </a:xfrm>
          <a:prstGeom prst="roundRect">
            <a:avLst>
              <a:gd name="adj" fmla="val 46512"/>
            </a:avLst>
          </a:prstGeom>
          <a:solidFill>
            <a:srgbClr val="1E324F"/>
          </a:solidFill>
          <a:ln w="12700">
            <a:solidFill>
              <a:srgbClr val="1E324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 name="Text 1"/>
          <p:cNvSpPr/>
          <p:nvPr/>
        </p:nvSpPr>
        <p:spPr>
          <a:xfrm>
            <a:off x="768240" y="603360"/>
            <a:ext cx="1682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200" b="1" u="none" strike="noStrike">
                <a:solidFill>
                  <a:srgbClr val="BFD0EA"/>
                </a:solidFill>
                <a:effectLst/>
                <a:uFillTx/>
                <a:latin typeface="Inter"/>
                <a:ea typeface="Inter"/>
              </a:rPr>
              <a:t>PROYECTO 2 · REDES 2</a:t>
            </a:r>
            <a:endParaRPr lang="en-US" sz="1200" b="0" u="none" strike="noStrike">
              <a:solidFill>
                <a:srgbClr val="FFFFFF"/>
              </a:solidFill>
              <a:effectLst/>
              <a:uFillTx/>
              <a:latin typeface="Arial"/>
            </a:endParaRPr>
          </a:p>
        </p:txBody>
      </p:sp>
      <p:sp>
        <p:nvSpPr>
          <p:cNvPr id="10" name="Text 2"/>
          <p:cNvSpPr/>
          <p:nvPr/>
        </p:nvSpPr>
        <p:spPr>
          <a:xfrm>
            <a:off x="694800" y="1225440"/>
            <a:ext cx="6491880" cy="1599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700" b="1" u="none" strike="noStrike">
                <a:solidFill>
                  <a:srgbClr val="FFFFFF"/>
                </a:solidFill>
                <a:effectLst/>
                <a:uFillTx/>
                <a:latin typeface="Inter"/>
                <a:ea typeface="Inter"/>
              </a:rPr>
              <a:t>Tres empresas.</a:t>
            </a:r>
            <a:endParaRPr lang="en-US" sz="4700" b="0" u="none" strike="noStrike">
              <a:solidFill>
                <a:srgbClr val="FFFFFF"/>
              </a:solidFill>
              <a:effectLst/>
              <a:uFillTx/>
              <a:latin typeface="Arial"/>
            </a:endParaRPr>
          </a:p>
          <a:p>
            <a:pPr defTabSz="914400">
              <a:lnSpc>
                <a:spcPct val="100000"/>
              </a:lnSpc>
              <a:tabLst>
                <a:tab pos="0" algn="l"/>
              </a:tabLst>
            </a:pPr>
            <a:r>
              <a:rPr lang="en-US" sz="4700" b="1" u="none" strike="noStrike">
                <a:solidFill>
                  <a:srgbClr val="FFFFFF"/>
                </a:solidFill>
                <a:effectLst/>
                <a:uFillTx/>
                <a:latin typeface="Inter"/>
                <a:ea typeface="Inter"/>
              </a:rPr>
              <a:t>Una sola red.</a:t>
            </a:r>
            <a:endParaRPr lang="en-US" sz="4700" b="0" u="none" strike="noStrike">
              <a:solidFill>
                <a:srgbClr val="FFFFFF"/>
              </a:solidFill>
              <a:effectLst/>
              <a:uFillTx/>
              <a:latin typeface="Arial"/>
            </a:endParaRPr>
          </a:p>
        </p:txBody>
      </p:sp>
      <p:sp>
        <p:nvSpPr>
          <p:cNvPr id="11" name="Text 3"/>
          <p:cNvSpPr/>
          <p:nvPr/>
        </p:nvSpPr>
        <p:spPr>
          <a:xfrm>
            <a:off x="731520" y="3182040"/>
            <a:ext cx="585180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C8D6EB"/>
                </a:solidFill>
                <a:effectLst/>
                <a:uFillTx/>
                <a:latin typeface="Inter"/>
                <a:ea typeface="Inter"/>
              </a:rPr>
              <a:t>Una propuesta para conectar proveedores,</a:t>
            </a:r>
            <a:endParaRPr lang="en-US" sz="2100" b="0" u="none" strike="noStrike">
              <a:solidFill>
                <a:srgbClr val="FFFFFF"/>
              </a:solidFill>
              <a:effectLst/>
              <a:uFillTx/>
              <a:latin typeface="Arial"/>
            </a:endParaRPr>
          </a:p>
          <a:p>
            <a:pPr defTabSz="914400">
              <a:lnSpc>
                <a:spcPct val="100000"/>
              </a:lnSpc>
              <a:tabLst>
                <a:tab pos="0" algn="l"/>
              </a:tabLst>
            </a:pPr>
            <a:r>
              <a:rPr lang="en-US" sz="2100" b="0" u="none" strike="noStrike">
                <a:solidFill>
                  <a:srgbClr val="C8D6EB"/>
                </a:solidFill>
                <a:effectLst/>
                <a:uFillTx/>
                <a:latin typeface="Inter"/>
                <a:ea typeface="Inter"/>
              </a:rPr>
              <a:t>compartir servicios y mantener la comunicación.</a:t>
            </a:r>
            <a:endParaRPr lang="en-US" sz="2100" b="0" u="none" strike="noStrike">
              <a:solidFill>
                <a:srgbClr val="FFFFFF"/>
              </a:solidFill>
              <a:effectLst/>
              <a:uFillTx/>
              <a:latin typeface="Arial"/>
            </a:endParaRPr>
          </a:p>
        </p:txBody>
      </p:sp>
      <p:sp>
        <p:nvSpPr>
          <p:cNvPr id="12" name="Shape 4"/>
          <p:cNvSpPr/>
          <p:nvPr/>
        </p:nvSpPr>
        <p:spPr>
          <a:xfrm>
            <a:off x="749880" y="4800600"/>
            <a:ext cx="4443480" cy="585000"/>
          </a:xfrm>
          <a:prstGeom prst="roundRect">
            <a:avLst>
              <a:gd name="adj" fmla="val 26563"/>
            </a:avLst>
          </a:prstGeom>
          <a:solidFill>
            <a:srgbClr val="15A79A"/>
          </a:solidFill>
          <a:ln w="12700">
            <a:solidFill>
              <a:srgbClr val="15A79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 name="Text 5"/>
          <p:cNvSpPr/>
          <p:nvPr/>
        </p:nvSpPr>
        <p:spPr>
          <a:xfrm>
            <a:off x="1005840" y="4937760"/>
            <a:ext cx="391320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FFFFFF"/>
                </a:solidFill>
                <a:effectLst/>
                <a:uFillTx/>
                <a:latin typeface="Inter"/>
                <a:ea typeface="Inter"/>
              </a:rPr>
              <a:t>UNA RED QUE CONECTA Y PROTEGE</a:t>
            </a:r>
            <a:endParaRPr lang="en-US" sz="1500" b="0" u="none" strike="noStrike">
              <a:solidFill>
                <a:srgbClr val="FFFFFF"/>
              </a:solidFill>
              <a:effectLst/>
              <a:uFillTx/>
              <a:latin typeface="Arial"/>
            </a:endParaRPr>
          </a:p>
        </p:txBody>
      </p:sp>
      <p:sp>
        <p:nvSpPr>
          <p:cNvPr id="14" name="Shape 6"/>
          <p:cNvSpPr/>
          <p:nvPr/>
        </p:nvSpPr>
        <p:spPr>
          <a:xfrm flipH="1">
            <a:off x="7589520" y="2286000"/>
            <a:ext cx="1234440" cy="1874520"/>
          </a:xfrm>
          <a:prstGeom prst="line">
            <a:avLst/>
          </a:prstGeom>
          <a:ln w="38100">
            <a:solidFill>
              <a:srgbClr val="8BB0D5"/>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5" name="Shape 7"/>
          <p:cNvSpPr/>
          <p:nvPr/>
        </p:nvSpPr>
        <p:spPr>
          <a:xfrm>
            <a:off x="9418320" y="2286000"/>
            <a:ext cx="987480" cy="1874520"/>
          </a:xfrm>
          <a:prstGeom prst="line">
            <a:avLst/>
          </a:prstGeom>
          <a:ln w="38100">
            <a:solidFill>
              <a:srgbClr val="8BB0D5"/>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6" name="Shape 8"/>
          <p:cNvSpPr/>
          <p:nvPr/>
        </p:nvSpPr>
        <p:spPr>
          <a:xfrm>
            <a:off x="7818120" y="4416480"/>
            <a:ext cx="2304000" cy="360"/>
          </a:xfrm>
          <a:prstGeom prst="line">
            <a:avLst/>
          </a:prstGeom>
          <a:ln w="38100">
            <a:solidFill>
              <a:srgbClr val="8BB0D5"/>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17" name="Shape 9"/>
          <p:cNvSpPr/>
          <p:nvPr/>
        </p:nvSpPr>
        <p:spPr>
          <a:xfrm>
            <a:off x="8229600" y="1426320"/>
            <a:ext cx="1279800" cy="1279800"/>
          </a:xfrm>
          <a:prstGeom prst="ellipse">
            <a:avLst/>
          </a:prstGeom>
          <a:solidFill>
            <a:srgbClr val="15A79A"/>
          </a:solidFill>
          <a:ln w="12700">
            <a:solidFill>
              <a:srgbClr val="15A79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 name="Text 10"/>
          <p:cNvSpPr/>
          <p:nvPr/>
        </p:nvSpPr>
        <p:spPr>
          <a:xfrm>
            <a:off x="8229600" y="1664280"/>
            <a:ext cx="1279800" cy="74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3900" b="1" u="none" strike="noStrike">
                <a:solidFill>
                  <a:srgbClr val="111F34"/>
                </a:solidFill>
                <a:effectLst/>
                <a:uFillTx/>
                <a:latin typeface="Inter"/>
                <a:ea typeface="Inter"/>
              </a:rPr>
              <a:t>F</a:t>
            </a:r>
            <a:endParaRPr lang="en-US" sz="3900" b="0" u="none" strike="noStrike">
              <a:solidFill>
                <a:srgbClr val="FFFFFF"/>
              </a:solidFill>
              <a:effectLst/>
              <a:uFillTx/>
              <a:latin typeface="Arial"/>
            </a:endParaRPr>
          </a:p>
        </p:txBody>
      </p:sp>
      <p:sp>
        <p:nvSpPr>
          <p:cNvPr id="19" name="Text 11"/>
          <p:cNvSpPr/>
          <p:nvPr/>
        </p:nvSpPr>
        <p:spPr>
          <a:xfrm>
            <a:off x="7927920" y="2807280"/>
            <a:ext cx="188316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FFFFFF"/>
                </a:solidFill>
                <a:effectLst/>
                <a:uFillTx/>
                <a:latin typeface="Inter"/>
                <a:ea typeface="Inter"/>
              </a:rPr>
              <a:t>FibraNet</a:t>
            </a:r>
            <a:endParaRPr lang="en-US" sz="1500" b="0" u="none" strike="noStrike">
              <a:solidFill>
                <a:srgbClr val="FFFFFF"/>
              </a:solidFill>
              <a:effectLst/>
              <a:uFillTx/>
              <a:latin typeface="Arial"/>
            </a:endParaRPr>
          </a:p>
        </p:txBody>
      </p:sp>
      <p:sp>
        <p:nvSpPr>
          <p:cNvPr id="20" name="Shape 12"/>
          <p:cNvSpPr/>
          <p:nvPr/>
        </p:nvSpPr>
        <p:spPr>
          <a:xfrm>
            <a:off x="6995160" y="3867840"/>
            <a:ext cx="1279800" cy="1279800"/>
          </a:xfrm>
          <a:prstGeom prst="ellipse">
            <a:avLst/>
          </a:prstGeom>
          <a:solidFill>
            <a:srgbClr val="FFAA5B"/>
          </a:solidFill>
          <a:ln w="12700">
            <a:solidFill>
              <a:srgbClr val="FFAA5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 name="Text 13"/>
          <p:cNvSpPr/>
          <p:nvPr/>
        </p:nvSpPr>
        <p:spPr>
          <a:xfrm>
            <a:off x="6995160" y="4105800"/>
            <a:ext cx="1279800" cy="74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3900" b="1" u="none" strike="noStrike">
                <a:solidFill>
                  <a:srgbClr val="111F34"/>
                </a:solidFill>
                <a:effectLst/>
                <a:uFillTx/>
                <a:latin typeface="Inter"/>
                <a:ea typeface="Inter"/>
              </a:rPr>
              <a:t>A</a:t>
            </a:r>
            <a:endParaRPr lang="en-US" sz="3900" b="0" u="none" strike="noStrike">
              <a:solidFill>
                <a:srgbClr val="FFFFFF"/>
              </a:solidFill>
              <a:effectLst/>
              <a:uFillTx/>
              <a:latin typeface="Arial"/>
            </a:endParaRPr>
          </a:p>
        </p:txBody>
      </p:sp>
      <p:sp>
        <p:nvSpPr>
          <p:cNvPr id="22" name="Text 14"/>
          <p:cNvSpPr/>
          <p:nvPr/>
        </p:nvSpPr>
        <p:spPr>
          <a:xfrm>
            <a:off x="6693480" y="5248800"/>
            <a:ext cx="188316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FFFFFF"/>
                </a:solidFill>
                <a:effectLst/>
                <a:uFillTx/>
                <a:latin typeface="Inter"/>
                <a:ea typeface="Inter"/>
              </a:rPr>
              <a:t>AndinaCom</a:t>
            </a:r>
            <a:endParaRPr lang="en-US" sz="1500" b="0" u="none" strike="noStrike">
              <a:solidFill>
                <a:srgbClr val="FFFFFF"/>
              </a:solidFill>
              <a:effectLst/>
              <a:uFillTx/>
              <a:latin typeface="Arial"/>
            </a:endParaRPr>
          </a:p>
        </p:txBody>
      </p:sp>
      <p:sp>
        <p:nvSpPr>
          <p:cNvPr id="23" name="Shape 15"/>
          <p:cNvSpPr/>
          <p:nvPr/>
        </p:nvSpPr>
        <p:spPr>
          <a:xfrm>
            <a:off x="9802440" y="3867840"/>
            <a:ext cx="1279800" cy="1279800"/>
          </a:xfrm>
          <a:prstGeom prst="ellipse">
            <a:avLst/>
          </a:prstGeom>
          <a:solidFill>
            <a:srgbClr val="4B7BEE"/>
          </a:solidFill>
          <a:ln w="12700">
            <a:solidFill>
              <a:srgbClr val="4B7BEE">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 name="Text 16"/>
          <p:cNvSpPr/>
          <p:nvPr/>
        </p:nvSpPr>
        <p:spPr>
          <a:xfrm>
            <a:off x="9802440" y="4105800"/>
            <a:ext cx="1279800" cy="74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3900" b="1" u="none" strike="noStrike">
                <a:solidFill>
                  <a:srgbClr val="111F34"/>
                </a:solidFill>
                <a:effectLst/>
                <a:uFillTx/>
                <a:latin typeface="Inter"/>
                <a:ea typeface="Inter"/>
              </a:rPr>
              <a:t>M</a:t>
            </a:r>
            <a:endParaRPr lang="en-US" sz="3900" b="0" u="none" strike="noStrike">
              <a:solidFill>
                <a:srgbClr val="FFFFFF"/>
              </a:solidFill>
              <a:effectLst/>
              <a:uFillTx/>
              <a:latin typeface="Arial"/>
            </a:endParaRPr>
          </a:p>
        </p:txBody>
      </p:sp>
      <p:sp>
        <p:nvSpPr>
          <p:cNvPr id="25" name="Text 17"/>
          <p:cNvSpPr/>
          <p:nvPr/>
        </p:nvSpPr>
        <p:spPr>
          <a:xfrm>
            <a:off x="9500760" y="5248800"/>
            <a:ext cx="188316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FFFFFF"/>
                </a:solidFill>
                <a:effectLst/>
                <a:uFillTx/>
                <a:latin typeface="Inter"/>
                <a:ea typeface="Inter"/>
              </a:rPr>
              <a:t>MoonLink</a:t>
            </a:r>
            <a:endParaRPr lang="en-US" sz="1500" b="0" u="none" strike="noStrike">
              <a:solidFill>
                <a:srgbClr val="FFFFFF"/>
              </a:solidFill>
              <a:effectLst/>
              <a:uFillTx/>
              <a:latin typeface="Arial"/>
            </a:endParaRPr>
          </a:p>
        </p:txBody>
      </p:sp>
      <p:sp>
        <p:nvSpPr>
          <p:cNvPr id="26" name="Text 18"/>
          <p:cNvSpPr/>
          <p:nvPr/>
        </p:nvSpPr>
        <p:spPr>
          <a:xfrm>
            <a:off x="749880" y="609912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B4C2D7"/>
                </a:solidFill>
                <a:effectLst/>
                <a:uFillTx/>
                <a:latin typeface="Inter"/>
                <a:ea typeface="Inter"/>
              </a:rPr>
              <a:t>Edin Rafael Santizo Barrera · Carné 202202072</a:t>
            </a:r>
            <a:endParaRPr lang="en-US" sz="1300" b="0" u="none" strike="noStrike">
              <a:solidFill>
                <a:srgbClr val="FFFFFF"/>
              </a:solidFill>
              <a:effectLst/>
              <a:uFillTx/>
              <a:latin typeface="Arial"/>
            </a:endParaRPr>
          </a:p>
        </p:txBody>
      </p:sp>
      <p:sp>
        <p:nvSpPr>
          <p:cNvPr id="27" name="Text 19"/>
          <p:cNvSpPr/>
          <p:nvPr/>
        </p:nvSpPr>
        <p:spPr>
          <a:xfrm>
            <a:off x="484560" y="651960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0" u="none" strike="noStrike">
                <a:solidFill>
                  <a:srgbClr val="A8B9D1"/>
                </a:solidFill>
                <a:effectLst/>
                <a:uFillTx/>
                <a:latin typeface="Inter"/>
                <a:ea typeface="Inter"/>
              </a:rPr>
              <a:t>REDES 2 · EDIN SANTIZO · 202202072</a:t>
            </a:r>
            <a:endParaRPr lang="en-US" sz="900" b="0" u="none" strike="noStrike">
              <a:solidFill>
                <a:srgbClr val="FFFFFF"/>
              </a:solidFill>
              <a:effectLst/>
              <a:uFillTx/>
              <a:latin typeface="Arial"/>
            </a:endParaRPr>
          </a:p>
        </p:txBody>
      </p:sp>
      <p:sp>
        <p:nvSpPr>
          <p:cNvPr id="28" name="Text 20"/>
          <p:cNvSpPr/>
          <p:nvPr/>
        </p:nvSpPr>
        <p:spPr>
          <a:xfrm>
            <a:off x="11064240" y="649224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900" b="0" u="none" strike="noStrike">
                <a:solidFill>
                  <a:srgbClr val="A8B9D1"/>
                </a:solidFill>
                <a:effectLst/>
                <a:uFillTx/>
                <a:latin typeface="Inter"/>
                <a:ea typeface="Inter"/>
              </a:rPr>
              <a:t>01</a:t>
            </a:r>
            <a:endParaRPr lang="en-US" sz="90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9" name="Shape 0"/>
          <p:cNvSpPr/>
          <p:nvPr/>
        </p:nvSpPr>
        <p:spPr>
          <a:xfrm>
            <a:off x="502920" y="311040"/>
            <a:ext cx="2057040" cy="310680"/>
          </a:xfrm>
          <a:prstGeom prst="roundRect">
            <a:avLst>
              <a:gd name="adj" fmla="val 29412"/>
            </a:avLst>
          </a:prstGeom>
          <a:solidFill>
            <a:srgbClr val="DBF5EF"/>
          </a:solidFill>
          <a:ln w="12700">
            <a:solidFill>
              <a:srgbClr val="DBF5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 name="Text 1"/>
          <p:cNvSpPr/>
          <p:nvPr/>
        </p:nvSpPr>
        <p:spPr>
          <a:xfrm>
            <a:off x="612720" y="361080"/>
            <a:ext cx="18374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00" b="1" u="none" strike="noStrike">
                <a:solidFill>
                  <a:srgbClr val="15A79A"/>
                </a:solidFill>
                <a:effectLst/>
                <a:uFillTx/>
                <a:latin typeface="Inter"/>
                <a:ea typeface="Inter"/>
              </a:rPr>
              <a:t>EL RETO</a:t>
            </a:r>
            <a:endParaRPr lang="en-US" sz="1000" b="0" u="none" strike="noStrike">
              <a:solidFill>
                <a:srgbClr val="000000"/>
              </a:solidFill>
              <a:effectLst/>
              <a:uFillTx/>
              <a:latin typeface="Arial"/>
            </a:endParaRPr>
          </a:p>
        </p:txBody>
      </p:sp>
      <p:sp>
        <p:nvSpPr>
          <p:cNvPr id="31" name="Text 2"/>
          <p:cNvSpPr/>
          <p:nvPr/>
        </p:nvSpPr>
        <p:spPr>
          <a:xfrm>
            <a:off x="502920" y="877680"/>
            <a:ext cx="10972440" cy="648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2243D"/>
                </a:solidFill>
                <a:effectLst/>
                <a:uFillTx/>
                <a:latin typeface="Inter"/>
                <a:ea typeface="Inter"/>
              </a:rPr>
              <a:t>¿Qué problema queríamos resolver?</a:t>
            </a:r>
            <a:endParaRPr lang="en-US" sz="3400" b="0" u="none" strike="noStrike">
              <a:solidFill>
                <a:srgbClr val="000000"/>
              </a:solidFill>
              <a:effectLst/>
              <a:uFillTx/>
              <a:latin typeface="Arial"/>
            </a:endParaRPr>
          </a:p>
        </p:txBody>
      </p:sp>
      <p:sp>
        <p:nvSpPr>
          <p:cNvPr id="32" name="Text 3"/>
          <p:cNvSpPr/>
          <p:nvPr/>
        </p:nvSpPr>
        <p:spPr>
          <a:xfrm>
            <a:off x="511920" y="1591200"/>
            <a:ext cx="10789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40" b="0" u="none" strike="noStrike">
                <a:solidFill>
                  <a:srgbClr val="657389"/>
                </a:solidFill>
                <a:effectLst/>
                <a:uFillTx/>
                <a:latin typeface="Inter"/>
                <a:ea typeface="Inter"/>
              </a:rPr>
              <a:t>Que tres redes distintas funcionen juntas, sin perder control ni servicios.</a:t>
            </a:r>
            <a:endParaRPr lang="en-US" sz="1540" b="0" u="none" strike="noStrike">
              <a:solidFill>
                <a:srgbClr val="000000"/>
              </a:solidFill>
              <a:effectLst/>
              <a:uFillTx/>
              <a:latin typeface="Arial"/>
            </a:endParaRPr>
          </a:p>
        </p:txBody>
      </p:sp>
      <p:sp>
        <p:nvSpPr>
          <p:cNvPr id="33" name="Text 4"/>
          <p:cNvSpPr/>
          <p:nvPr/>
        </p:nvSpPr>
        <p:spPr>
          <a:xfrm>
            <a:off x="484560" y="651960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0" u="none" strike="noStrike">
                <a:solidFill>
                  <a:srgbClr val="657389"/>
                </a:solidFill>
                <a:effectLst/>
                <a:uFillTx/>
                <a:latin typeface="Inter"/>
                <a:ea typeface="Inter"/>
              </a:rPr>
              <a:t>REDES 2 · EDIN SANTIZO · 202202072</a:t>
            </a:r>
            <a:endParaRPr lang="en-US" sz="900" b="0" u="none" strike="noStrike">
              <a:solidFill>
                <a:srgbClr val="000000"/>
              </a:solidFill>
              <a:effectLst/>
              <a:uFillTx/>
              <a:latin typeface="Arial"/>
            </a:endParaRPr>
          </a:p>
        </p:txBody>
      </p:sp>
      <p:sp>
        <p:nvSpPr>
          <p:cNvPr id="34" name="Text 5"/>
          <p:cNvSpPr/>
          <p:nvPr/>
        </p:nvSpPr>
        <p:spPr>
          <a:xfrm>
            <a:off x="11064240" y="649224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900" b="0" u="none" strike="noStrike">
                <a:solidFill>
                  <a:srgbClr val="657389"/>
                </a:solidFill>
                <a:effectLst/>
                <a:uFillTx/>
                <a:latin typeface="Inter"/>
                <a:ea typeface="Inter"/>
              </a:rPr>
              <a:t>02</a:t>
            </a:r>
            <a:endParaRPr lang="en-US" sz="900" b="0" u="none" strike="noStrike">
              <a:solidFill>
                <a:srgbClr val="000000"/>
              </a:solidFill>
              <a:effectLst/>
              <a:uFillTx/>
              <a:latin typeface="Arial"/>
            </a:endParaRPr>
          </a:p>
        </p:txBody>
      </p:sp>
      <p:sp>
        <p:nvSpPr>
          <p:cNvPr id="35" name="Shape 6"/>
          <p:cNvSpPr/>
          <p:nvPr/>
        </p:nvSpPr>
        <p:spPr>
          <a:xfrm>
            <a:off x="594360" y="2240280"/>
            <a:ext cx="4754520" cy="3126960"/>
          </a:xfrm>
          <a:prstGeom prst="roundRect">
            <a:avLst>
              <a:gd name="adj" fmla="val 5848"/>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 name="Text 7"/>
          <p:cNvSpPr/>
          <p:nvPr/>
        </p:nvSpPr>
        <p:spPr>
          <a:xfrm>
            <a:off x="905400" y="2541960"/>
            <a:ext cx="402300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657389"/>
                </a:solidFill>
                <a:effectLst/>
                <a:uFillTx/>
                <a:latin typeface="Inter"/>
                <a:ea typeface="Inter"/>
              </a:rPr>
              <a:t>ANTES: REDES SEPARADAS</a:t>
            </a:r>
            <a:endParaRPr lang="en-US" sz="1800" b="0" u="none" strike="noStrike">
              <a:solidFill>
                <a:srgbClr val="000000"/>
              </a:solidFill>
              <a:effectLst/>
              <a:uFillTx/>
              <a:latin typeface="Arial"/>
            </a:endParaRPr>
          </a:p>
        </p:txBody>
      </p:sp>
      <p:sp>
        <p:nvSpPr>
          <p:cNvPr id="37" name="Shape 8"/>
          <p:cNvSpPr/>
          <p:nvPr/>
        </p:nvSpPr>
        <p:spPr>
          <a:xfrm>
            <a:off x="1170360" y="3282840"/>
            <a:ext cx="978120" cy="978120"/>
          </a:xfrm>
          <a:prstGeom prst="ellipse">
            <a:avLst/>
          </a:prstGeom>
          <a:solidFill>
            <a:srgbClr val="15A79A"/>
          </a:solidFill>
          <a:ln w="12700">
            <a:solidFill>
              <a:srgbClr val="15A79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Text 9"/>
          <p:cNvSpPr/>
          <p:nvPr/>
        </p:nvSpPr>
        <p:spPr>
          <a:xfrm>
            <a:off x="1170360" y="3529440"/>
            <a:ext cx="9781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2700" b="1" u="none" strike="noStrike">
                <a:solidFill>
                  <a:srgbClr val="FFFFFF"/>
                </a:solidFill>
                <a:effectLst/>
                <a:uFillTx/>
                <a:latin typeface="Inter"/>
                <a:ea typeface="Inter"/>
              </a:rPr>
              <a:t>F</a:t>
            </a:r>
            <a:endParaRPr lang="en-US" sz="2700" b="0" u="none" strike="noStrike">
              <a:solidFill>
                <a:srgbClr val="000000"/>
              </a:solidFill>
              <a:effectLst/>
              <a:uFillTx/>
              <a:latin typeface="Arial"/>
            </a:endParaRPr>
          </a:p>
        </p:txBody>
      </p:sp>
      <p:sp>
        <p:nvSpPr>
          <p:cNvPr id="39" name="Shape 10"/>
          <p:cNvSpPr/>
          <p:nvPr/>
        </p:nvSpPr>
        <p:spPr>
          <a:xfrm>
            <a:off x="2898720" y="3282840"/>
            <a:ext cx="978120" cy="978120"/>
          </a:xfrm>
          <a:prstGeom prst="ellipse">
            <a:avLst/>
          </a:prstGeom>
          <a:solidFill>
            <a:srgbClr val="FFAA5B"/>
          </a:solidFill>
          <a:ln w="12700">
            <a:solidFill>
              <a:srgbClr val="FFAA5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 name="Text 11"/>
          <p:cNvSpPr/>
          <p:nvPr/>
        </p:nvSpPr>
        <p:spPr>
          <a:xfrm>
            <a:off x="2898720" y="3529440"/>
            <a:ext cx="9781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2700" b="1" u="none" strike="noStrike">
                <a:solidFill>
                  <a:srgbClr val="12243D"/>
                </a:solidFill>
                <a:effectLst/>
                <a:uFillTx/>
                <a:latin typeface="Inter"/>
                <a:ea typeface="Inter"/>
              </a:rPr>
              <a:t>A</a:t>
            </a:r>
            <a:endParaRPr lang="en-US" sz="2700" b="0" u="none" strike="noStrike">
              <a:solidFill>
                <a:srgbClr val="000000"/>
              </a:solidFill>
              <a:effectLst/>
              <a:uFillTx/>
              <a:latin typeface="Arial"/>
            </a:endParaRPr>
          </a:p>
        </p:txBody>
      </p:sp>
      <p:sp>
        <p:nvSpPr>
          <p:cNvPr id="41" name="Shape 12"/>
          <p:cNvSpPr/>
          <p:nvPr/>
        </p:nvSpPr>
        <p:spPr>
          <a:xfrm>
            <a:off x="4563000" y="3282840"/>
            <a:ext cx="978120" cy="978120"/>
          </a:xfrm>
          <a:prstGeom prst="ellipse">
            <a:avLst/>
          </a:prstGeom>
          <a:solidFill>
            <a:srgbClr val="4B7BEE"/>
          </a:solidFill>
          <a:ln w="12700">
            <a:solidFill>
              <a:srgbClr val="4B7BEE">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 name="Text 13"/>
          <p:cNvSpPr/>
          <p:nvPr/>
        </p:nvSpPr>
        <p:spPr>
          <a:xfrm>
            <a:off x="4563000" y="3529440"/>
            <a:ext cx="9781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2700" b="1" u="none" strike="noStrike">
                <a:solidFill>
                  <a:srgbClr val="FFFFFF"/>
                </a:solidFill>
                <a:effectLst/>
                <a:uFillTx/>
                <a:latin typeface="Inter"/>
                <a:ea typeface="Inter"/>
              </a:rPr>
              <a:t>M</a:t>
            </a:r>
            <a:endParaRPr lang="en-US" sz="2700" b="0" u="none" strike="noStrike">
              <a:solidFill>
                <a:srgbClr val="000000"/>
              </a:solidFill>
              <a:effectLst/>
              <a:uFillTx/>
              <a:latin typeface="Arial"/>
            </a:endParaRPr>
          </a:p>
        </p:txBody>
      </p:sp>
      <p:sp>
        <p:nvSpPr>
          <p:cNvPr id="43" name="Text 14"/>
          <p:cNvSpPr/>
          <p:nvPr/>
        </p:nvSpPr>
        <p:spPr>
          <a:xfrm>
            <a:off x="1014840" y="4617720"/>
            <a:ext cx="39589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0" u="none" strike="noStrike">
                <a:solidFill>
                  <a:srgbClr val="657389"/>
                </a:solidFill>
                <a:effectLst/>
                <a:uFillTx/>
                <a:latin typeface="Inter"/>
                <a:ea typeface="Inter"/>
              </a:rPr>
              <a:t>Sin caminos entre empresas</a:t>
            </a:r>
            <a:endParaRPr lang="en-US" sz="1600" b="0" u="none" strike="noStrike">
              <a:solidFill>
                <a:srgbClr val="000000"/>
              </a:solidFill>
              <a:effectLst/>
              <a:uFillTx/>
              <a:latin typeface="Arial"/>
            </a:endParaRPr>
          </a:p>
        </p:txBody>
      </p:sp>
      <p:sp>
        <p:nvSpPr>
          <p:cNvPr id="44" name="Shape 15"/>
          <p:cNvSpPr/>
          <p:nvPr/>
        </p:nvSpPr>
        <p:spPr>
          <a:xfrm>
            <a:off x="5788080" y="2240280"/>
            <a:ext cx="5787720" cy="3126960"/>
          </a:xfrm>
          <a:prstGeom prst="roundRect">
            <a:avLst>
              <a:gd name="adj" fmla="val 5556"/>
            </a:avLst>
          </a:prstGeom>
          <a:solidFill>
            <a:srgbClr val="111F34"/>
          </a:solidFill>
          <a:ln w="12700">
            <a:solidFill>
              <a:srgbClr val="111F34">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5" name="Text 16"/>
          <p:cNvSpPr/>
          <p:nvPr/>
        </p:nvSpPr>
        <p:spPr>
          <a:xfrm>
            <a:off x="6190560" y="2541960"/>
            <a:ext cx="502884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FFFFFF"/>
                </a:solidFill>
                <a:effectLst/>
                <a:uFillTx/>
                <a:latin typeface="Inter"/>
                <a:ea typeface="Inter"/>
              </a:rPr>
              <a:t>AHORA: UNA SOLUCIÓN COMÚN</a:t>
            </a:r>
            <a:endParaRPr lang="en-US" sz="1800" b="0" u="none" strike="noStrike">
              <a:solidFill>
                <a:srgbClr val="000000"/>
              </a:solidFill>
              <a:effectLst/>
              <a:uFillTx/>
              <a:latin typeface="Arial"/>
            </a:endParaRPr>
          </a:p>
        </p:txBody>
      </p:sp>
      <p:sp>
        <p:nvSpPr>
          <p:cNvPr id="46" name="Text 17"/>
          <p:cNvSpPr/>
          <p:nvPr/>
        </p:nvSpPr>
        <p:spPr>
          <a:xfrm>
            <a:off x="6282000" y="3163680"/>
            <a:ext cx="23223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2300" b="1" u="none" strike="noStrike">
                <a:solidFill>
                  <a:srgbClr val="FFAA5B"/>
                </a:solidFill>
                <a:effectLst/>
                <a:uFillTx/>
                <a:latin typeface="Inter"/>
                <a:ea typeface="Inter"/>
              </a:rPr>
              <a:t>Conexión</a:t>
            </a:r>
            <a:endParaRPr lang="en-US" sz="2300" b="0" u="none" strike="noStrike">
              <a:solidFill>
                <a:srgbClr val="000000"/>
              </a:solidFill>
              <a:effectLst/>
              <a:uFillTx/>
              <a:latin typeface="Arial"/>
            </a:endParaRPr>
          </a:p>
        </p:txBody>
      </p:sp>
      <p:sp>
        <p:nvSpPr>
          <p:cNvPr id="47" name="Text 18"/>
          <p:cNvSpPr/>
          <p:nvPr/>
        </p:nvSpPr>
        <p:spPr>
          <a:xfrm>
            <a:off x="8659440" y="3200400"/>
            <a:ext cx="237708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380" b="0" u="none" strike="noStrike">
                <a:solidFill>
                  <a:srgbClr val="E6ECF4"/>
                </a:solidFill>
                <a:effectLst/>
                <a:uFillTx/>
                <a:latin typeface="Inter"/>
                <a:ea typeface="Inter"/>
              </a:rPr>
              <a:t>Las tres empresas se encuentran.</a:t>
            </a:r>
            <a:endParaRPr lang="en-US" sz="1380" b="0" u="none" strike="noStrike">
              <a:solidFill>
                <a:srgbClr val="000000"/>
              </a:solidFill>
              <a:effectLst/>
              <a:uFillTx/>
              <a:latin typeface="Arial"/>
            </a:endParaRPr>
          </a:p>
        </p:txBody>
      </p:sp>
      <p:sp>
        <p:nvSpPr>
          <p:cNvPr id="48" name="Text 19"/>
          <p:cNvSpPr/>
          <p:nvPr/>
        </p:nvSpPr>
        <p:spPr>
          <a:xfrm>
            <a:off x="6282000" y="3803760"/>
            <a:ext cx="23223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2300" b="1" u="none" strike="noStrike">
                <a:solidFill>
                  <a:srgbClr val="15A79A"/>
                </a:solidFill>
                <a:effectLst/>
                <a:uFillTx/>
                <a:latin typeface="Inter"/>
                <a:ea typeface="Inter"/>
              </a:rPr>
              <a:t>Servicios</a:t>
            </a:r>
            <a:endParaRPr lang="en-US" sz="2300" b="0" u="none" strike="noStrike">
              <a:solidFill>
                <a:srgbClr val="000000"/>
              </a:solidFill>
              <a:effectLst/>
              <a:uFillTx/>
              <a:latin typeface="Arial"/>
            </a:endParaRPr>
          </a:p>
        </p:txBody>
      </p:sp>
      <p:sp>
        <p:nvSpPr>
          <p:cNvPr id="49" name="Text 20"/>
          <p:cNvSpPr/>
          <p:nvPr/>
        </p:nvSpPr>
        <p:spPr>
          <a:xfrm>
            <a:off x="8659440" y="3831480"/>
            <a:ext cx="242280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380" b="0" u="none" strike="noStrike">
                <a:solidFill>
                  <a:srgbClr val="E6ECF4"/>
                </a:solidFill>
                <a:effectLst/>
                <a:uFillTx/>
                <a:latin typeface="Inter"/>
                <a:ea typeface="Inter"/>
              </a:rPr>
              <a:t>IP, nombres y web compartidos.</a:t>
            </a:r>
            <a:endParaRPr lang="en-US" sz="1380" b="0" u="none" strike="noStrike">
              <a:solidFill>
                <a:srgbClr val="000000"/>
              </a:solidFill>
              <a:effectLst/>
              <a:uFillTx/>
              <a:latin typeface="Arial"/>
            </a:endParaRPr>
          </a:p>
        </p:txBody>
      </p:sp>
      <p:sp>
        <p:nvSpPr>
          <p:cNvPr id="50" name="Text 21"/>
          <p:cNvSpPr/>
          <p:nvPr/>
        </p:nvSpPr>
        <p:spPr>
          <a:xfrm>
            <a:off x="6282000" y="4443840"/>
            <a:ext cx="23223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2300" b="1" u="none" strike="noStrike">
                <a:solidFill>
                  <a:srgbClr val="9EAEFF"/>
                </a:solidFill>
                <a:effectLst/>
                <a:uFillTx/>
                <a:latin typeface="Inter"/>
                <a:ea typeface="Inter"/>
              </a:rPr>
              <a:t>Seguridad</a:t>
            </a:r>
            <a:endParaRPr lang="en-US" sz="2300" b="0" u="none" strike="noStrike">
              <a:solidFill>
                <a:srgbClr val="000000"/>
              </a:solidFill>
              <a:effectLst/>
              <a:uFillTx/>
              <a:latin typeface="Arial"/>
            </a:endParaRPr>
          </a:p>
        </p:txBody>
      </p:sp>
      <p:sp>
        <p:nvSpPr>
          <p:cNvPr id="51" name="Text 22"/>
          <p:cNvSpPr/>
          <p:nvPr/>
        </p:nvSpPr>
        <p:spPr>
          <a:xfrm>
            <a:off x="8659440" y="4471560"/>
            <a:ext cx="24685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80" b="0" u="none" strike="noStrike">
                <a:solidFill>
                  <a:srgbClr val="E6ECF4"/>
                </a:solidFill>
                <a:effectLst/>
                <a:uFillTx/>
                <a:latin typeface="Inter"/>
                <a:ea typeface="Inter"/>
              </a:rPr>
              <a:t>Cada acceso tiene reglas.</a:t>
            </a:r>
            <a:endParaRPr lang="en-US" sz="1380" b="0" u="none" strike="noStrike">
              <a:solidFill>
                <a:srgbClr val="000000"/>
              </a:solidFill>
              <a:effectLst/>
              <a:uFillTx/>
              <a:latin typeface="Arial"/>
            </a:endParaRPr>
          </a:p>
        </p:txBody>
      </p:sp>
      <p:sp>
        <p:nvSpPr>
          <p:cNvPr id="52" name="Text 23"/>
          <p:cNvSpPr/>
          <p:nvPr/>
        </p:nvSpPr>
        <p:spPr>
          <a:xfrm>
            <a:off x="1014840" y="5733360"/>
            <a:ext cx="1042380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900" b="1" u="none" strike="noStrike">
                <a:solidFill>
                  <a:srgbClr val="12243D"/>
                </a:solidFill>
                <a:effectLst/>
                <a:uFillTx/>
                <a:latin typeface="Inter"/>
                <a:ea typeface="Inter"/>
              </a:rPr>
              <a:t>La meta no era tener más equipos: era que los equipos trabajaran juntos.</a:t>
            </a:r>
            <a:endParaRPr lang="en-US" sz="19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3" name="Shape 0"/>
          <p:cNvSpPr/>
          <p:nvPr/>
        </p:nvSpPr>
        <p:spPr>
          <a:xfrm>
            <a:off x="502920" y="311040"/>
            <a:ext cx="2057040" cy="310680"/>
          </a:xfrm>
          <a:prstGeom prst="roundRect">
            <a:avLst>
              <a:gd name="adj" fmla="val 29412"/>
            </a:avLst>
          </a:prstGeom>
          <a:solidFill>
            <a:srgbClr val="DBF5EF"/>
          </a:solidFill>
          <a:ln w="12700">
            <a:solidFill>
              <a:srgbClr val="DBF5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 name="Text 1"/>
          <p:cNvSpPr/>
          <p:nvPr/>
        </p:nvSpPr>
        <p:spPr>
          <a:xfrm>
            <a:off x="612720" y="361080"/>
            <a:ext cx="18374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00" b="1" u="none" strike="noStrike">
                <a:solidFill>
                  <a:srgbClr val="15A79A"/>
                </a:solidFill>
                <a:effectLst/>
                <a:uFillTx/>
                <a:latin typeface="Inter"/>
                <a:ea typeface="Inter"/>
              </a:rPr>
              <a:t>LA SOLUCIÓN</a:t>
            </a:r>
            <a:endParaRPr lang="en-US" sz="1000" b="0" u="none" strike="noStrike">
              <a:solidFill>
                <a:srgbClr val="000000"/>
              </a:solidFill>
              <a:effectLst/>
              <a:uFillTx/>
              <a:latin typeface="Arial"/>
            </a:endParaRPr>
          </a:p>
        </p:txBody>
      </p:sp>
      <p:sp>
        <p:nvSpPr>
          <p:cNvPr id="55" name="Text 2"/>
          <p:cNvSpPr/>
          <p:nvPr/>
        </p:nvSpPr>
        <p:spPr>
          <a:xfrm>
            <a:off x="502920" y="877680"/>
            <a:ext cx="10972440" cy="648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2243D"/>
                </a:solidFill>
                <a:effectLst/>
                <a:uFillTx/>
                <a:latin typeface="Inter"/>
                <a:ea typeface="Inter"/>
              </a:rPr>
              <a:t>Construimos carreteras entre los 3 ISP</a:t>
            </a:r>
            <a:endParaRPr lang="en-US" sz="3400" b="0" u="none" strike="noStrike">
              <a:solidFill>
                <a:srgbClr val="000000"/>
              </a:solidFill>
              <a:effectLst/>
              <a:uFillTx/>
              <a:latin typeface="Arial"/>
            </a:endParaRPr>
          </a:p>
        </p:txBody>
      </p:sp>
      <p:sp>
        <p:nvSpPr>
          <p:cNvPr id="56" name="Text 3"/>
          <p:cNvSpPr/>
          <p:nvPr/>
        </p:nvSpPr>
        <p:spPr>
          <a:xfrm>
            <a:off x="511920" y="1591200"/>
            <a:ext cx="10789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40" b="0" u="none" strike="noStrike">
                <a:solidFill>
                  <a:srgbClr val="657389"/>
                </a:solidFill>
                <a:effectLst/>
                <a:uFillTx/>
                <a:latin typeface="Inter"/>
                <a:ea typeface="Inter"/>
              </a:rPr>
              <a:t>Cada empresa tiene su red interna; BGP les permite intercambiar rutas.</a:t>
            </a:r>
            <a:endParaRPr lang="en-US" sz="1540" b="0" u="none" strike="noStrike">
              <a:solidFill>
                <a:srgbClr val="000000"/>
              </a:solidFill>
              <a:effectLst/>
              <a:uFillTx/>
              <a:latin typeface="Arial"/>
            </a:endParaRPr>
          </a:p>
        </p:txBody>
      </p:sp>
      <p:sp>
        <p:nvSpPr>
          <p:cNvPr id="57" name="Text 4"/>
          <p:cNvSpPr/>
          <p:nvPr/>
        </p:nvSpPr>
        <p:spPr>
          <a:xfrm>
            <a:off x="484560" y="651960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0" u="none" strike="noStrike">
                <a:solidFill>
                  <a:srgbClr val="657389"/>
                </a:solidFill>
                <a:effectLst/>
                <a:uFillTx/>
                <a:latin typeface="Inter"/>
                <a:ea typeface="Inter"/>
              </a:rPr>
              <a:t>REDES 2 · EDIN SANTIZO · 202202072</a:t>
            </a:r>
            <a:endParaRPr lang="en-US" sz="900" b="0" u="none" strike="noStrike">
              <a:solidFill>
                <a:srgbClr val="000000"/>
              </a:solidFill>
              <a:effectLst/>
              <a:uFillTx/>
              <a:latin typeface="Arial"/>
            </a:endParaRPr>
          </a:p>
        </p:txBody>
      </p:sp>
      <p:sp>
        <p:nvSpPr>
          <p:cNvPr id="58" name="Text 5"/>
          <p:cNvSpPr/>
          <p:nvPr/>
        </p:nvSpPr>
        <p:spPr>
          <a:xfrm>
            <a:off x="11064240" y="649224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900" b="0" u="none" strike="noStrike">
                <a:solidFill>
                  <a:srgbClr val="657389"/>
                </a:solidFill>
                <a:effectLst/>
                <a:uFillTx/>
                <a:latin typeface="Inter"/>
                <a:ea typeface="Inter"/>
              </a:rPr>
              <a:t>03</a:t>
            </a:r>
            <a:endParaRPr lang="en-US" sz="900" b="0" u="none" strike="noStrike">
              <a:solidFill>
                <a:srgbClr val="000000"/>
              </a:solidFill>
              <a:effectLst/>
              <a:uFillTx/>
              <a:latin typeface="Arial"/>
            </a:endParaRPr>
          </a:p>
        </p:txBody>
      </p:sp>
      <p:sp>
        <p:nvSpPr>
          <p:cNvPr id="59" name="Shape 6"/>
          <p:cNvSpPr/>
          <p:nvPr/>
        </p:nvSpPr>
        <p:spPr>
          <a:xfrm flipH="1">
            <a:off x="3218400" y="3108960"/>
            <a:ext cx="2834640" cy="1819440"/>
          </a:xfrm>
          <a:prstGeom prst="line">
            <a:avLst/>
          </a:prstGeom>
          <a:ln w="50800">
            <a:solidFill>
              <a:srgbClr val="4B7BE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 name="Shape 7"/>
          <p:cNvSpPr/>
          <p:nvPr/>
        </p:nvSpPr>
        <p:spPr>
          <a:xfrm>
            <a:off x="6153840" y="3108960"/>
            <a:ext cx="2715840" cy="1819440"/>
          </a:xfrm>
          <a:prstGeom prst="line">
            <a:avLst/>
          </a:prstGeom>
          <a:ln w="50800">
            <a:solidFill>
              <a:srgbClr val="4B7BE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 name="Shape 8"/>
          <p:cNvSpPr/>
          <p:nvPr/>
        </p:nvSpPr>
        <p:spPr>
          <a:xfrm>
            <a:off x="3703320" y="4992480"/>
            <a:ext cx="4709160" cy="360"/>
          </a:xfrm>
          <a:prstGeom prst="line">
            <a:avLst/>
          </a:prstGeom>
          <a:ln w="50800">
            <a:solidFill>
              <a:srgbClr val="4B7BEE"/>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2" name="Shape 9"/>
          <p:cNvSpPr/>
          <p:nvPr/>
        </p:nvSpPr>
        <p:spPr>
          <a:xfrm>
            <a:off x="4818960" y="2130480"/>
            <a:ext cx="2413800" cy="2413800"/>
          </a:xfrm>
          <a:prstGeom prst="ellipse">
            <a:avLst/>
          </a:prstGeom>
          <a:solidFill>
            <a:srgbClr val="FFAA5B"/>
          </a:solidFill>
          <a:ln w="12700">
            <a:solidFill>
              <a:srgbClr val="FFAA5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3" name="Text 10"/>
          <p:cNvSpPr/>
          <p:nvPr/>
        </p:nvSpPr>
        <p:spPr>
          <a:xfrm>
            <a:off x="4919400" y="2679120"/>
            <a:ext cx="22125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400" b="1" u="none" strike="noStrike">
                <a:solidFill>
                  <a:srgbClr val="111F34"/>
                </a:solidFill>
                <a:effectLst/>
                <a:uFillTx/>
                <a:latin typeface="Inter"/>
                <a:ea typeface="Inter"/>
              </a:rPr>
              <a:t>ANDINACOM</a:t>
            </a:r>
            <a:endParaRPr lang="en-US" sz="2400" b="0" u="none" strike="noStrike">
              <a:solidFill>
                <a:srgbClr val="000000"/>
              </a:solidFill>
              <a:effectLst/>
              <a:uFillTx/>
              <a:latin typeface="Arial"/>
            </a:endParaRPr>
          </a:p>
        </p:txBody>
      </p:sp>
      <p:sp>
        <p:nvSpPr>
          <p:cNvPr id="64" name="Shape 11"/>
          <p:cNvSpPr/>
          <p:nvPr/>
        </p:nvSpPr>
        <p:spPr>
          <a:xfrm>
            <a:off x="2030040" y="4215240"/>
            <a:ext cx="1965600" cy="1965600"/>
          </a:xfrm>
          <a:prstGeom prst="ellipse">
            <a:avLst/>
          </a:prstGeom>
          <a:solidFill>
            <a:srgbClr val="15A79A"/>
          </a:solidFill>
          <a:ln w="12700">
            <a:solidFill>
              <a:srgbClr val="15A79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5" name="Text 12"/>
          <p:cNvSpPr/>
          <p:nvPr/>
        </p:nvSpPr>
        <p:spPr>
          <a:xfrm>
            <a:off x="2185560" y="4837320"/>
            <a:ext cx="167292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100" b="1" u="none" strike="noStrike">
                <a:solidFill>
                  <a:srgbClr val="FFFFFF"/>
                </a:solidFill>
                <a:effectLst/>
                <a:uFillTx/>
                <a:latin typeface="Inter"/>
                <a:ea typeface="Inter"/>
              </a:rPr>
              <a:t>FIBRANET</a:t>
            </a:r>
            <a:endParaRPr lang="en-US" sz="2100" b="0" u="none" strike="noStrike">
              <a:solidFill>
                <a:srgbClr val="000000"/>
              </a:solidFill>
              <a:effectLst/>
              <a:uFillTx/>
              <a:latin typeface="Arial"/>
            </a:endParaRPr>
          </a:p>
        </p:txBody>
      </p:sp>
      <p:sp>
        <p:nvSpPr>
          <p:cNvPr id="66" name="Shape 13"/>
          <p:cNvSpPr/>
          <p:nvPr/>
        </p:nvSpPr>
        <p:spPr>
          <a:xfrm>
            <a:off x="8019360" y="4215240"/>
            <a:ext cx="1965600" cy="1965600"/>
          </a:xfrm>
          <a:prstGeom prst="ellipse">
            <a:avLst/>
          </a:prstGeom>
          <a:solidFill>
            <a:srgbClr val="4B7BEE"/>
          </a:solidFill>
          <a:ln w="12700">
            <a:solidFill>
              <a:srgbClr val="4B7BEE">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7" name="Text 14"/>
          <p:cNvSpPr/>
          <p:nvPr/>
        </p:nvSpPr>
        <p:spPr>
          <a:xfrm>
            <a:off x="8174880" y="4837320"/>
            <a:ext cx="167292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100" b="1" u="none" strike="noStrike">
                <a:solidFill>
                  <a:srgbClr val="FFFFFF"/>
                </a:solidFill>
                <a:effectLst/>
                <a:uFillTx/>
                <a:latin typeface="Inter"/>
                <a:ea typeface="Inter"/>
              </a:rPr>
              <a:t>MOONLINK</a:t>
            </a:r>
            <a:endParaRPr lang="en-US" sz="2100" b="0" u="none" strike="noStrike">
              <a:solidFill>
                <a:srgbClr val="000000"/>
              </a:solidFill>
              <a:effectLst/>
              <a:uFillTx/>
              <a:latin typeface="Arial"/>
            </a:endParaRPr>
          </a:p>
        </p:txBody>
      </p:sp>
      <p:sp>
        <p:nvSpPr>
          <p:cNvPr id="68" name="Shape 15"/>
          <p:cNvSpPr/>
          <p:nvPr/>
        </p:nvSpPr>
        <p:spPr>
          <a:xfrm>
            <a:off x="704160" y="2203560"/>
            <a:ext cx="3035520" cy="712800"/>
          </a:xfrm>
          <a:prstGeom prst="roundRect">
            <a:avLst>
              <a:gd name="adj" fmla="val 19231"/>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 name="Text 16"/>
          <p:cNvSpPr/>
          <p:nvPr/>
        </p:nvSpPr>
        <p:spPr>
          <a:xfrm>
            <a:off x="887040" y="2313360"/>
            <a:ext cx="269712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60" b="1" u="none" strike="noStrike">
                <a:solidFill>
                  <a:srgbClr val="12243D"/>
                </a:solidFill>
                <a:effectLst/>
                <a:uFillTx/>
                <a:latin typeface="Inter"/>
                <a:ea typeface="Inter"/>
              </a:rPr>
              <a:t>BGP = el idioma que usan</a:t>
            </a:r>
            <a:endParaRPr lang="en-US" sz="1460" b="0" u="none" strike="noStrike">
              <a:solidFill>
                <a:srgbClr val="000000"/>
              </a:solidFill>
              <a:effectLst/>
              <a:uFillTx/>
              <a:latin typeface="Arial"/>
            </a:endParaRPr>
          </a:p>
          <a:p>
            <a:pPr defTabSz="914400">
              <a:lnSpc>
                <a:spcPct val="100000"/>
              </a:lnSpc>
              <a:tabLst>
                <a:tab pos="0" algn="l"/>
              </a:tabLst>
            </a:pPr>
            <a:r>
              <a:rPr lang="en-US" sz="1460" b="1" u="none" strike="noStrike">
                <a:solidFill>
                  <a:srgbClr val="12243D"/>
                </a:solidFill>
                <a:effectLst/>
                <a:uFillTx/>
                <a:latin typeface="Inter"/>
                <a:ea typeface="Inter"/>
              </a:rPr>
              <a:t>para indicar por dónde llegar</a:t>
            </a:r>
            <a:endParaRPr lang="en-US" sz="1460" b="0" u="none" strike="noStrike">
              <a:solidFill>
                <a:srgbClr val="000000"/>
              </a:solidFill>
              <a:effectLst/>
              <a:uFillTx/>
              <a:latin typeface="Arial"/>
            </a:endParaRPr>
          </a:p>
        </p:txBody>
      </p:sp>
      <p:sp>
        <p:nvSpPr>
          <p:cNvPr id="70" name="Shape 17"/>
          <p:cNvSpPr/>
          <p:nvPr/>
        </p:nvSpPr>
        <p:spPr>
          <a:xfrm>
            <a:off x="8686800" y="2258640"/>
            <a:ext cx="2733840" cy="712800"/>
          </a:xfrm>
          <a:prstGeom prst="roundRect">
            <a:avLst>
              <a:gd name="adj" fmla="val 19231"/>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1" name="Text 18"/>
          <p:cNvSpPr/>
          <p:nvPr/>
        </p:nvSpPr>
        <p:spPr>
          <a:xfrm>
            <a:off x="8915400" y="2368440"/>
            <a:ext cx="228564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40" b="1" u="none" strike="noStrike">
                <a:solidFill>
                  <a:srgbClr val="12243D"/>
                </a:solidFill>
                <a:effectLst/>
                <a:uFillTx/>
                <a:latin typeface="Inter"/>
                <a:ea typeface="Inter"/>
              </a:rPr>
              <a:t>Se conectan con</a:t>
            </a:r>
            <a:endParaRPr lang="en-US" sz="1440" b="0" u="none" strike="noStrike">
              <a:solidFill>
                <a:srgbClr val="000000"/>
              </a:solidFill>
              <a:effectLst/>
              <a:uFillTx/>
              <a:latin typeface="Arial"/>
            </a:endParaRPr>
          </a:p>
          <a:p>
            <a:pPr defTabSz="914400">
              <a:lnSpc>
                <a:spcPct val="100000"/>
              </a:lnSpc>
              <a:tabLst>
                <a:tab pos="0" algn="l"/>
              </a:tabLst>
            </a:pPr>
            <a:r>
              <a:rPr lang="en-US" sz="1440" b="1" u="none" strike="noStrike">
                <a:solidFill>
                  <a:srgbClr val="12243D"/>
                </a:solidFill>
                <a:effectLst/>
                <a:uFillTx/>
                <a:latin typeface="Inter"/>
                <a:ea typeface="Inter"/>
              </a:rPr>
              <a:t>enlaces de fibra óptica</a:t>
            </a:r>
            <a:endParaRPr lang="en-US" sz="144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2" name="Shape 0"/>
          <p:cNvSpPr/>
          <p:nvPr/>
        </p:nvSpPr>
        <p:spPr>
          <a:xfrm>
            <a:off x="502920" y="311040"/>
            <a:ext cx="2057040" cy="310680"/>
          </a:xfrm>
          <a:prstGeom prst="roundRect">
            <a:avLst>
              <a:gd name="adj" fmla="val 29412"/>
            </a:avLst>
          </a:prstGeom>
          <a:solidFill>
            <a:srgbClr val="DBF5EF"/>
          </a:solidFill>
          <a:ln w="12700">
            <a:solidFill>
              <a:srgbClr val="DBF5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 name="Text 1"/>
          <p:cNvSpPr/>
          <p:nvPr/>
        </p:nvSpPr>
        <p:spPr>
          <a:xfrm>
            <a:off x="612720" y="361080"/>
            <a:ext cx="18374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00" b="1" u="none" strike="noStrike">
                <a:solidFill>
                  <a:srgbClr val="15A79A"/>
                </a:solidFill>
                <a:effectLst/>
                <a:uFillTx/>
                <a:latin typeface="Inter"/>
                <a:ea typeface="Inter"/>
              </a:rPr>
              <a:t>TRES EMPRESAS</a:t>
            </a:r>
            <a:endParaRPr lang="en-US" sz="1000" b="0" u="none" strike="noStrike">
              <a:solidFill>
                <a:srgbClr val="000000"/>
              </a:solidFill>
              <a:effectLst/>
              <a:uFillTx/>
              <a:latin typeface="Arial"/>
            </a:endParaRPr>
          </a:p>
        </p:txBody>
      </p:sp>
      <p:sp>
        <p:nvSpPr>
          <p:cNvPr id="74" name="Text 2"/>
          <p:cNvSpPr/>
          <p:nvPr/>
        </p:nvSpPr>
        <p:spPr>
          <a:xfrm>
            <a:off x="502920" y="877680"/>
            <a:ext cx="10972440" cy="648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2243D"/>
                </a:solidFill>
                <a:effectLst/>
                <a:uFillTx/>
                <a:latin typeface="Inter"/>
                <a:ea typeface="Inter"/>
              </a:rPr>
              <a:t>Cada una tiene una responsabilidad</a:t>
            </a:r>
            <a:endParaRPr lang="en-US" sz="3400" b="0" u="none" strike="noStrike">
              <a:solidFill>
                <a:srgbClr val="000000"/>
              </a:solidFill>
              <a:effectLst/>
              <a:uFillTx/>
              <a:latin typeface="Arial"/>
            </a:endParaRPr>
          </a:p>
        </p:txBody>
      </p:sp>
      <p:sp>
        <p:nvSpPr>
          <p:cNvPr id="75" name="Text 3"/>
          <p:cNvSpPr/>
          <p:nvPr/>
        </p:nvSpPr>
        <p:spPr>
          <a:xfrm>
            <a:off x="511920" y="1591200"/>
            <a:ext cx="10789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40" b="0" u="none" strike="noStrike">
                <a:solidFill>
                  <a:srgbClr val="657389"/>
                </a:solidFill>
                <a:effectLst/>
                <a:uFillTx/>
                <a:latin typeface="Inter"/>
                <a:ea typeface="Inter"/>
              </a:rPr>
              <a:t>Es más fácil entenderlas por el servicio que aportan.</a:t>
            </a:r>
            <a:endParaRPr lang="en-US" sz="1540" b="0" u="none" strike="noStrike">
              <a:solidFill>
                <a:srgbClr val="000000"/>
              </a:solidFill>
              <a:effectLst/>
              <a:uFillTx/>
              <a:latin typeface="Arial"/>
            </a:endParaRPr>
          </a:p>
        </p:txBody>
      </p:sp>
      <p:sp>
        <p:nvSpPr>
          <p:cNvPr id="76" name="Text 4"/>
          <p:cNvSpPr/>
          <p:nvPr/>
        </p:nvSpPr>
        <p:spPr>
          <a:xfrm>
            <a:off x="484560" y="651960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0" u="none" strike="noStrike">
                <a:solidFill>
                  <a:srgbClr val="657389"/>
                </a:solidFill>
                <a:effectLst/>
                <a:uFillTx/>
                <a:latin typeface="Inter"/>
                <a:ea typeface="Inter"/>
              </a:rPr>
              <a:t>REDES 2 · EDIN SANTIZO · 202202072</a:t>
            </a:r>
            <a:endParaRPr lang="en-US" sz="900" b="0" u="none" strike="noStrike">
              <a:solidFill>
                <a:srgbClr val="000000"/>
              </a:solidFill>
              <a:effectLst/>
              <a:uFillTx/>
              <a:latin typeface="Arial"/>
            </a:endParaRPr>
          </a:p>
        </p:txBody>
      </p:sp>
      <p:sp>
        <p:nvSpPr>
          <p:cNvPr id="77" name="Text 5"/>
          <p:cNvSpPr/>
          <p:nvPr/>
        </p:nvSpPr>
        <p:spPr>
          <a:xfrm>
            <a:off x="11064240" y="649224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900" b="0" u="none" strike="noStrike">
                <a:solidFill>
                  <a:srgbClr val="657389"/>
                </a:solidFill>
                <a:effectLst/>
                <a:uFillTx/>
                <a:latin typeface="Inter"/>
                <a:ea typeface="Inter"/>
              </a:rPr>
              <a:t>04</a:t>
            </a:r>
            <a:endParaRPr lang="en-US" sz="900" b="0" u="none" strike="noStrike">
              <a:solidFill>
                <a:srgbClr val="000000"/>
              </a:solidFill>
              <a:effectLst/>
              <a:uFillTx/>
              <a:latin typeface="Arial"/>
            </a:endParaRPr>
          </a:p>
        </p:txBody>
      </p:sp>
      <p:sp>
        <p:nvSpPr>
          <p:cNvPr id="78" name="Shape 6"/>
          <p:cNvSpPr/>
          <p:nvPr/>
        </p:nvSpPr>
        <p:spPr>
          <a:xfrm>
            <a:off x="640080" y="2167200"/>
            <a:ext cx="10935720" cy="1060200"/>
          </a:xfrm>
          <a:prstGeom prst="roundRect">
            <a:avLst>
              <a:gd name="adj" fmla="val 15517"/>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9" name="Shape 7"/>
          <p:cNvSpPr/>
          <p:nvPr/>
        </p:nvSpPr>
        <p:spPr>
          <a:xfrm>
            <a:off x="850320" y="2350080"/>
            <a:ext cx="667080" cy="667080"/>
          </a:xfrm>
          <a:prstGeom prst="ellipse">
            <a:avLst/>
          </a:prstGeom>
          <a:solidFill>
            <a:srgbClr val="15A79A"/>
          </a:solidFill>
          <a:ln w="12700">
            <a:solidFill>
              <a:srgbClr val="15A79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0" name="Text 8"/>
          <p:cNvSpPr/>
          <p:nvPr/>
        </p:nvSpPr>
        <p:spPr>
          <a:xfrm>
            <a:off x="850320" y="2395800"/>
            <a:ext cx="66708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300" b="1" u="none" strike="noStrike">
                <a:solidFill>
                  <a:srgbClr val="FFFFFF"/>
                </a:solidFill>
                <a:effectLst/>
                <a:uFillTx/>
                <a:latin typeface="Inter"/>
                <a:ea typeface="Inter"/>
              </a:rPr>
              <a:t>F</a:t>
            </a:r>
            <a:endParaRPr lang="en-US" sz="2300" b="0" u="none" strike="noStrike">
              <a:solidFill>
                <a:srgbClr val="000000"/>
              </a:solidFill>
              <a:effectLst/>
              <a:uFillTx/>
              <a:latin typeface="Arial"/>
            </a:endParaRPr>
          </a:p>
        </p:txBody>
      </p:sp>
      <p:sp>
        <p:nvSpPr>
          <p:cNvPr id="81" name="Text 9"/>
          <p:cNvSpPr/>
          <p:nvPr/>
        </p:nvSpPr>
        <p:spPr>
          <a:xfrm>
            <a:off x="1673280" y="2359080"/>
            <a:ext cx="1947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2200" b="1" u="none" strike="noStrike">
                <a:solidFill>
                  <a:srgbClr val="12243D"/>
                </a:solidFill>
                <a:effectLst/>
                <a:uFillTx/>
                <a:latin typeface="Inter"/>
                <a:ea typeface="Inter"/>
              </a:rPr>
              <a:t>FibraNet</a:t>
            </a:r>
            <a:endParaRPr lang="en-US" sz="2200" b="0" u="none" strike="noStrike">
              <a:solidFill>
                <a:srgbClr val="000000"/>
              </a:solidFill>
              <a:effectLst/>
              <a:uFillTx/>
              <a:latin typeface="Arial"/>
            </a:endParaRPr>
          </a:p>
        </p:txBody>
      </p:sp>
      <p:sp>
        <p:nvSpPr>
          <p:cNvPr id="82" name="Text 10"/>
          <p:cNvSpPr/>
          <p:nvPr/>
        </p:nvSpPr>
        <p:spPr>
          <a:xfrm>
            <a:off x="1673280" y="2816280"/>
            <a:ext cx="41785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0" u="none" strike="noStrike">
                <a:solidFill>
                  <a:srgbClr val="657389"/>
                </a:solidFill>
                <a:effectLst/>
                <a:uFillTx/>
                <a:latin typeface="Inter"/>
                <a:ea typeface="Inter"/>
              </a:rPr>
              <a:t>Administración + Atención · OSPF · Diseño en árbol</a:t>
            </a:r>
            <a:endParaRPr lang="en-US" sz="1150" b="0" u="none" strike="noStrike">
              <a:solidFill>
                <a:srgbClr val="000000"/>
              </a:solidFill>
              <a:effectLst/>
              <a:uFillTx/>
              <a:latin typeface="Arial"/>
            </a:endParaRPr>
          </a:p>
        </p:txBody>
      </p:sp>
      <p:sp>
        <p:nvSpPr>
          <p:cNvPr id="83" name="Shape 11"/>
          <p:cNvSpPr/>
          <p:nvPr/>
        </p:nvSpPr>
        <p:spPr>
          <a:xfrm>
            <a:off x="6016680" y="2322720"/>
            <a:ext cx="2038680" cy="383760"/>
          </a:xfrm>
          <a:prstGeom prst="roundRect">
            <a:avLst>
              <a:gd name="adj" fmla="val 26190"/>
            </a:avLst>
          </a:prstGeom>
          <a:solidFill>
            <a:srgbClr val="DBF5EF"/>
          </a:solidFill>
          <a:ln w="12700">
            <a:solidFill>
              <a:srgbClr val="DBF5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4" name="Text 12"/>
          <p:cNvSpPr/>
          <p:nvPr/>
        </p:nvSpPr>
        <p:spPr>
          <a:xfrm>
            <a:off x="6117480" y="2368440"/>
            <a:ext cx="185580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12243D"/>
                </a:solidFill>
                <a:effectLst/>
                <a:uFillTx/>
                <a:latin typeface="Inter"/>
                <a:ea typeface="Inter"/>
              </a:rPr>
              <a:t>La información</a:t>
            </a:r>
            <a:endParaRPr lang="en-US" sz="1300" b="0" u="none" strike="noStrike">
              <a:solidFill>
                <a:srgbClr val="000000"/>
              </a:solidFill>
              <a:effectLst/>
              <a:uFillTx/>
              <a:latin typeface="Arial"/>
            </a:endParaRPr>
          </a:p>
        </p:txBody>
      </p:sp>
      <p:sp>
        <p:nvSpPr>
          <p:cNvPr id="85" name="Text 13"/>
          <p:cNvSpPr/>
          <p:nvPr/>
        </p:nvSpPr>
        <p:spPr>
          <a:xfrm>
            <a:off x="8220600" y="2331720"/>
            <a:ext cx="3062880" cy="66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20" b="0" u="none" strike="noStrike">
                <a:solidFill>
                  <a:srgbClr val="12243D"/>
                </a:solidFill>
                <a:effectLst/>
                <a:uFillTx/>
                <a:latin typeface="Inter"/>
                <a:ea typeface="Inter"/>
              </a:rPr>
              <a:t>Hospeda la página web y ayuda a encontrarla por su nombre.</a:t>
            </a:r>
            <a:endParaRPr lang="en-US" sz="1420" b="0" u="none" strike="noStrike">
              <a:solidFill>
                <a:srgbClr val="000000"/>
              </a:solidFill>
              <a:effectLst/>
              <a:uFillTx/>
              <a:latin typeface="Arial"/>
            </a:endParaRPr>
          </a:p>
        </p:txBody>
      </p:sp>
      <p:sp>
        <p:nvSpPr>
          <p:cNvPr id="86" name="Shape 14"/>
          <p:cNvSpPr/>
          <p:nvPr/>
        </p:nvSpPr>
        <p:spPr>
          <a:xfrm>
            <a:off x="640080" y="3447360"/>
            <a:ext cx="10935720" cy="1060200"/>
          </a:xfrm>
          <a:prstGeom prst="roundRect">
            <a:avLst>
              <a:gd name="adj" fmla="val 15517"/>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7" name="Shape 15"/>
          <p:cNvSpPr/>
          <p:nvPr/>
        </p:nvSpPr>
        <p:spPr>
          <a:xfrm>
            <a:off x="850320" y="3630240"/>
            <a:ext cx="667080" cy="667080"/>
          </a:xfrm>
          <a:prstGeom prst="ellipse">
            <a:avLst/>
          </a:prstGeom>
          <a:solidFill>
            <a:srgbClr val="FFAA5B"/>
          </a:solidFill>
          <a:ln w="12700">
            <a:solidFill>
              <a:srgbClr val="FFAA5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 name="Text 16"/>
          <p:cNvSpPr/>
          <p:nvPr/>
        </p:nvSpPr>
        <p:spPr>
          <a:xfrm>
            <a:off x="850320" y="3675960"/>
            <a:ext cx="66708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300" b="1" u="none" strike="noStrike">
                <a:solidFill>
                  <a:srgbClr val="FFFFFF"/>
                </a:solidFill>
                <a:effectLst/>
                <a:uFillTx/>
                <a:latin typeface="Inter"/>
                <a:ea typeface="Inter"/>
              </a:rPr>
              <a:t>A</a:t>
            </a:r>
            <a:endParaRPr lang="en-US" sz="2300" b="0" u="none" strike="noStrike">
              <a:solidFill>
                <a:srgbClr val="000000"/>
              </a:solidFill>
              <a:effectLst/>
              <a:uFillTx/>
              <a:latin typeface="Arial"/>
            </a:endParaRPr>
          </a:p>
        </p:txBody>
      </p:sp>
      <p:sp>
        <p:nvSpPr>
          <p:cNvPr id="89" name="Text 17"/>
          <p:cNvSpPr/>
          <p:nvPr/>
        </p:nvSpPr>
        <p:spPr>
          <a:xfrm>
            <a:off x="1673280" y="3639240"/>
            <a:ext cx="1947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2200" b="1" u="none" strike="noStrike">
                <a:solidFill>
                  <a:srgbClr val="12243D"/>
                </a:solidFill>
                <a:effectLst/>
                <a:uFillTx/>
                <a:latin typeface="Inter"/>
                <a:ea typeface="Inter"/>
              </a:rPr>
              <a:t>AndinaCom</a:t>
            </a:r>
            <a:endParaRPr lang="en-US" sz="2200" b="0" u="none" strike="noStrike">
              <a:solidFill>
                <a:srgbClr val="000000"/>
              </a:solidFill>
              <a:effectLst/>
              <a:uFillTx/>
              <a:latin typeface="Arial"/>
            </a:endParaRPr>
          </a:p>
        </p:txBody>
      </p:sp>
      <p:sp>
        <p:nvSpPr>
          <p:cNvPr id="90" name="Text 18"/>
          <p:cNvSpPr/>
          <p:nvPr/>
        </p:nvSpPr>
        <p:spPr>
          <a:xfrm>
            <a:off x="1673280" y="4096440"/>
            <a:ext cx="41785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0" u="none" strike="noStrike">
                <a:solidFill>
                  <a:srgbClr val="657389"/>
                </a:solidFill>
                <a:effectLst/>
                <a:uFillTx/>
                <a:latin typeface="Inter"/>
                <a:ea typeface="Inter"/>
              </a:rPr>
              <a:t>Ventas + Facturación · OSPF · HSRP</a:t>
            </a:r>
            <a:endParaRPr lang="en-US" sz="1150" b="0" u="none" strike="noStrike">
              <a:solidFill>
                <a:srgbClr val="000000"/>
              </a:solidFill>
              <a:effectLst/>
              <a:uFillTx/>
              <a:latin typeface="Arial"/>
            </a:endParaRPr>
          </a:p>
        </p:txBody>
      </p:sp>
      <p:sp>
        <p:nvSpPr>
          <p:cNvPr id="91" name="Shape 19"/>
          <p:cNvSpPr/>
          <p:nvPr/>
        </p:nvSpPr>
        <p:spPr>
          <a:xfrm>
            <a:off x="6016680" y="3602880"/>
            <a:ext cx="2038680" cy="383760"/>
          </a:xfrm>
          <a:prstGeom prst="roundRect">
            <a:avLst>
              <a:gd name="adj" fmla="val 26190"/>
            </a:avLst>
          </a:prstGeom>
          <a:solidFill>
            <a:srgbClr val="FFF0DB"/>
          </a:solidFill>
          <a:ln w="12700">
            <a:solidFill>
              <a:srgbClr val="FFF0D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2" name="Text 20"/>
          <p:cNvSpPr/>
          <p:nvPr/>
        </p:nvSpPr>
        <p:spPr>
          <a:xfrm>
            <a:off x="6117480" y="3648600"/>
            <a:ext cx="185580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12243D"/>
                </a:solidFill>
                <a:effectLst/>
                <a:uFillTx/>
                <a:latin typeface="Inter"/>
                <a:ea typeface="Inter"/>
              </a:rPr>
              <a:t>El orden y el respaldo</a:t>
            </a:r>
            <a:endParaRPr lang="en-US" sz="1300" b="0" u="none" strike="noStrike">
              <a:solidFill>
                <a:srgbClr val="000000"/>
              </a:solidFill>
              <a:effectLst/>
              <a:uFillTx/>
              <a:latin typeface="Arial"/>
            </a:endParaRPr>
          </a:p>
        </p:txBody>
      </p:sp>
      <p:sp>
        <p:nvSpPr>
          <p:cNvPr id="93" name="Text 21"/>
          <p:cNvSpPr/>
          <p:nvPr/>
        </p:nvSpPr>
        <p:spPr>
          <a:xfrm>
            <a:off x="8220600" y="3611880"/>
            <a:ext cx="3062880" cy="66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20" b="0" u="none" strike="noStrike">
                <a:solidFill>
                  <a:srgbClr val="12243D"/>
                </a:solidFill>
                <a:effectLst/>
                <a:uFillTx/>
                <a:latin typeface="Inter"/>
                <a:ea typeface="Inter"/>
              </a:rPr>
              <a:t>Asigna IP automáticamente y tiene un router alterno.</a:t>
            </a:r>
            <a:endParaRPr lang="en-US" sz="1420" b="0" u="none" strike="noStrike">
              <a:solidFill>
                <a:srgbClr val="000000"/>
              </a:solidFill>
              <a:effectLst/>
              <a:uFillTx/>
              <a:latin typeface="Arial"/>
            </a:endParaRPr>
          </a:p>
        </p:txBody>
      </p:sp>
      <p:sp>
        <p:nvSpPr>
          <p:cNvPr id="94" name="Shape 22"/>
          <p:cNvSpPr/>
          <p:nvPr/>
        </p:nvSpPr>
        <p:spPr>
          <a:xfrm>
            <a:off x="640080" y="4727520"/>
            <a:ext cx="10935720" cy="1060200"/>
          </a:xfrm>
          <a:prstGeom prst="roundRect">
            <a:avLst>
              <a:gd name="adj" fmla="val 15517"/>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5" name="Shape 23"/>
          <p:cNvSpPr/>
          <p:nvPr/>
        </p:nvSpPr>
        <p:spPr>
          <a:xfrm>
            <a:off x="850320" y="4910400"/>
            <a:ext cx="667080" cy="667080"/>
          </a:xfrm>
          <a:prstGeom prst="ellipse">
            <a:avLst/>
          </a:prstGeom>
          <a:solidFill>
            <a:srgbClr val="4B7BEE"/>
          </a:solidFill>
          <a:ln w="12700">
            <a:solidFill>
              <a:srgbClr val="4B7BEE">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6" name="Text 24"/>
          <p:cNvSpPr/>
          <p:nvPr/>
        </p:nvSpPr>
        <p:spPr>
          <a:xfrm>
            <a:off x="850320" y="4956120"/>
            <a:ext cx="66708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300" b="1" u="none" strike="noStrike">
                <a:solidFill>
                  <a:srgbClr val="FFFFFF"/>
                </a:solidFill>
                <a:effectLst/>
                <a:uFillTx/>
                <a:latin typeface="Inter"/>
                <a:ea typeface="Inter"/>
              </a:rPr>
              <a:t>M</a:t>
            </a:r>
            <a:endParaRPr lang="en-US" sz="2300" b="0" u="none" strike="noStrike">
              <a:solidFill>
                <a:srgbClr val="000000"/>
              </a:solidFill>
              <a:effectLst/>
              <a:uFillTx/>
              <a:latin typeface="Arial"/>
            </a:endParaRPr>
          </a:p>
        </p:txBody>
      </p:sp>
      <p:sp>
        <p:nvSpPr>
          <p:cNvPr id="97" name="Text 25"/>
          <p:cNvSpPr/>
          <p:nvPr/>
        </p:nvSpPr>
        <p:spPr>
          <a:xfrm>
            <a:off x="1673280" y="4919400"/>
            <a:ext cx="1947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2200" b="1" u="none" strike="noStrike">
                <a:solidFill>
                  <a:srgbClr val="12243D"/>
                </a:solidFill>
                <a:effectLst/>
                <a:uFillTx/>
                <a:latin typeface="Inter"/>
                <a:ea typeface="Inter"/>
              </a:rPr>
              <a:t>MoonLink</a:t>
            </a:r>
            <a:endParaRPr lang="en-US" sz="2200" b="0" u="none" strike="noStrike">
              <a:solidFill>
                <a:srgbClr val="000000"/>
              </a:solidFill>
              <a:effectLst/>
              <a:uFillTx/>
              <a:latin typeface="Arial"/>
            </a:endParaRPr>
          </a:p>
        </p:txBody>
      </p:sp>
      <p:sp>
        <p:nvSpPr>
          <p:cNvPr id="98" name="Text 26"/>
          <p:cNvSpPr/>
          <p:nvPr/>
        </p:nvSpPr>
        <p:spPr>
          <a:xfrm>
            <a:off x="1673280" y="5376600"/>
            <a:ext cx="41785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0" u="none" strike="noStrike">
                <a:solidFill>
                  <a:srgbClr val="657389"/>
                </a:solidFill>
                <a:effectLst/>
                <a:uFillTx/>
                <a:latin typeface="Inter"/>
                <a:ea typeface="Inter"/>
              </a:rPr>
              <a:t>Soporte + Seguridad · EIGRP · Diseño estrella</a:t>
            </a:r>
            <a:endParaRPr lang="en-US" sz="1150" b="0" u="none" strike="noStrike">
              <a:solidFill>
                <a:srgbClr val="000000"/>
              </a:solidFill>
              <a:effectLst/>
              <a:uFillTx/>
              <a:latin typeface="Arial"/>
            </a:endParaRPr>
          </a:p>
        </p:txBody>
      </p:sp>
      <p:sp>
        <p:nvSpPr>
          <p:cNvPr id="99" name="Shape 27"/>
          <p:cNvSpPr/>
          <p:nvPr/>
        </p:nvSpPr>
        <p:spPr>
          <a:xfrm>
            <a:off x="6016680" y="4883040"/>
            <a:ext cx="2038680" cy="383760"/>
          </a:xfrm>
          <a:prstGeom prst="roundRect">
            <a:avLst>
              <a:gd name="adj" fmla="val 26190"/>
            </a:avLst>
          </a:prstGeom>
          <a:solidFill>
            <a:srgbClr val="E7EEFF"/>
          </a:solidFill>
          <a:ln w="12700">
            <a:solidFill>
              <a:srgbClr val="E7EE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 name="Text 28"/>
          <p:cNvSpPr/>
          <p:nvPr/>
        </p:nvSpPr>
        <p:spPr>
          <a:xfrm>
            <a:off x="6117480" y="4928760"/>
            <a:ext cx="185580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12243D"/>
                </a:solidFill>
                <a:effectLst/>
                <a:uFillTx/>
                <a:latin typeface="Inter"/>
                <a:ea typeface="Inter"/>
              </a:rPr>
              <a:t>La conectividad local</a:t>
            </a:r>
            <a:endParaRPr lang="en-US" sz="1300" b="0" u="none" strike="noStrike">
              <a:solidFill>
                <a:srgbClr val="000000"/>
              </a:solidFill>
              <a:effectLst/>
              <a:uFillTx/>
              <a:latin typeface="Arial"/>
            </a:endParaRPr>
          </a:p>
        </p:txBody>
      </p:sp>
      <p:sp>
        <p:nvSpPr>
          <p:cNvPr id="101" name="Text 29"/>
          <p:cNvSpPr/>
          <p:nvPr/>
        </p:nvSpPr>
        <p:spPr>
          <a:xfrm>
            <a:off x="8220600" y="4892040"/>
            <a:ext cx="3062880" cy="66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20" b="0" u="none" strike="noStrike">
                <a:solidFill>
                  <a:srgbClr val="12243D"/>
                </a:solidFill>
                <a:effectLst/>
                <a:uFillTx/>
                <a:latin typeface="Inter"/>
                <a:ea typeface="Inter"/>
              </a:rPr>
              <a:t>Conecta Soporte y Seguridad e incorpora WiFi.</a:t>
            </a:r>
            <a:endParaRPr lang="en-US" sz="142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02" name="Shape 0"/>
          <p:cNvSpPr/>
          <p:nvPr/>
        </p:nvSpPr>
        <p:spPr>
          <a:xfrm>
            <a:off x="502920" y="311040"/>
            <a:ext cx="2057040" cy="310680"/>
          </a:xfrm>
          <a:prstGeom prst="roundRect">
            <a:avLst>
              <a:gd name="adj" fmla="val 29412"/>
            </a:avLst>
          </a:prstGeom>
          <a:solidFill>
            <a:srgbClr val="DBF5EF"/>
          </a:solidFill>
          <a:ln w="12700">
            <a:solidFill>
              <a:srgbClr val="DBF5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3" name="Text 1"/>
          <p:cNvSpPr/>
          <p:nvPr/>
        </p:nvSpPr>
        <p:spPr>
          <a:xfrm>
            <a:off x="612720" y="361080"/>
            <a:ext cx="18374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00" b="1" u="none" strike="noStrike">
                <a:solidFill>
                  <a:srgbClr val="15A79A"/>
                </a:solidFill>
                <a:effectLst/>
                <a:uFillTx/>
                <a:latin typeface="Inter"/>
                <a:ea typeface="Inter"/>
              </a:rPr>
              <a:t>UN EJEMPLO REAL</a:t>
            </a:r>
            <a:endParaRPr lang="en-US" sz="1000" b="0" u="none" strike="noStrike">
              <a:solidFill>
                <a:srgbClr val="000000"/>
              </a:solidFill>
              <a:effectLst/>
              <a:uFillTx/>
              <a:latin typeface="Arial"/>
            </a:endParaRPr>
          </a:p>
        </p:txBody>
      </p:sp>
      <p:sp>
        <p:nvSpPr>
          <p:cNvPr id="104" name="Text 2"/>
          <p:cNvSpPr/>
          <p:nvPr/>
        </p:nvSpPr>
        <p:spPr>
          <a:xfrm>
            <a:off x="502920" y="877680"/>
            <a:ext cx="10972440" cy="648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2243D"/>
                </a:solidFill>
                <a:effectLst/>
                <a:uFillTx/>
                <a:latin typeface="Inter"/>
                <a:ea typeface="Inter"/>
              </a:rPr>
              <a:t>¿Qué pasa cuando una PC abre nuestra página?</a:t>
            </a:r>
            <a:endParaRPr lang="en-US" sz="3400" b="0" u="none" strike="noStrike">
              <a:solidFill>
                <a:srgbClr val="000000"/>
              </a:solidFill>
              <a:effectLst/>
              <a:uFillTx/>
              <a:latin typeface="Arial"/>
            </a:endParaRPr>
          </a:p>
        </p:txBody>
      </p:sp>
      <p:sp>
        <p:nvSpPr>
          <p:cNvPr id="105" name="Text 3"/>
          <p:cNvSpPr/>
          <p:nvPr/>
        </p:nvSpPr>
        <p:spPr>
          <a:xfrm>
            <a:off x="511920" y="1591200"/>
            <a:ext cx="10789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40" b="0" u="none" strike="noStrike">
                <a:solidFill>
                  <a:srgbClr val="657389"/>
                </a:solidFill>
                <a:effectLst/>
                <a:uFillTx/>
                <a:latin typeface="Inter"/>
                <a:ea typeface="Inter"/>
              </a:rPr>
              <a:t>Una sola acción del usuario necesita varios servicios trabajando juntos.</a:t>
            </a:r>
            <a:endParaRPr lang="en-US" sz="1540" b="0" u="none" strike="noStrike">
              <a:solidFill>
                <a:srgbClr val="000000"/>
              </a:solidFill>
              <a:effectLst/>
              <a:uFillTx/>
              <a:latin typeface="Arial"/>
            </a:endParaRPr>
          </a:p>
        </p:txBody>
      </p:sp>
      <p:sp>
        <p:nvSpPr>
          <p:cNvPr id="106" name="Text 4"/>
          <p:cNvSpPr/>
          <p:nvPr/>
        </p:nvSpPr>
        <p:spPr>
          <a:xfrm>
            <a:off x="484560" y="651960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0" u="none" strike="noStrike">
                <a:solidFill>
                  <a:srgbClr val="657389"/>
                </a:solidFill>
                <a:effectLst/>
                <a:uFillTx/>
                <a:latin typeface="Inter"/>
                <a:ea typeface="Inter"/>
              </a:rPr>
              <a:t>REDES 2 · EDIN SANTIZO · 202202072</a:t>
            </a:r>
            <a:endParaRPr lang="en-US" sz="900" b="0" u="none" strike="noStrike">
              <a:solidFill>
                <a:srgbClr val="000000"/>
              </a:solidFill>
              <a:effectLst/>
              <a:uFillTx/>
              <a:latin typeface="Arial"/>
            </a:endParaRPr>
          </a:p>
        </p:txBody>
      </p:sp>
      <p:sp>
        <p:nvSpPr>
          <p:cNvPr id="107" name="Text 5"/>
          <p:cNvSpPr/>
          <p:nvPr/>
        </p:nvSpPr>
        <p:spPr>
          <a:xfrm>
            <a:off x="11064240" y="649224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900" b="0" u="none" strike="noStrike">
                <a:solidFill>
                  <a:srgbClr val="657389"/>
                </a:solidFill>
                <a:effectLst/>
                <a:uFillTx/>
                <a:latin typeface="Inter"/>
                <a:ea typeface="Inter"/>
              </a:rPr>
              <a:t>05</a:t>
            </a:r>
            <a:endParaRPr lang="en-US" sz="900" b="0" u="none" strike="noStrike">
              <a:solidFill>
                <a:srgbClr val="000000"/>
              </a:solidFill>
              <a:effectLst/>
              <a:uFillTx/>
              <a:latin typeface="Arial"/>
            </a:endParaRPr>
          </a:p>
        </p:txBody>
      </p:sp>
      <p:sp>
        <p:nvSpPr>
          <p:cNvPr id="108" name="Shape 6"/>
          <p:cNvSpPr/>
          <p:nvPr/>
        </p:nvSpPr>
        <p:spPr>
          <a:xfrm>
            <a:off x="658440" y="2432160"/>
            <a:ext cx="2157480" cy="2523240"/>
          </a:xfrm>
          <a:prstGeom prst="roundRect">
            <a:avLst>
              <a:gd name="adj" fmla="val 9746"/>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9" name="Shape 7"/>
          <p:cNvSpPr/>
          <p:nvPr/>
        </p:nvSpPr>
        <p:spPr>
          <a:xfrm>
            <a:off x="1261800" y="2679120"/>
            <a:ext cx="923040" cy="923040"/>
          </a:xfrm>
          <a:prstGeom prst="ellipse">
            <a:avLst/>
          </a:prstGeom>
          <a:solidFill>
            <a:srgbClr val="4B7BEE"/>
          </a:solidFill>
          <a:ln w="12700">
            <a:solidFill>
              <a:srgbClr val="4B7BEE">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0" name="Text 8"/>
          <p:cNvSpPr/>
          <p:nvPr/>
        </p:nvSpPr>
        <p:spPr>
          <a:xfrm>
            <a:off x="1261800" y="2889360"/>
            <a:ext cx="9230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700" b="1" u="none" strike="noStrike">
                <a:solidFill>
                  <a:srgbClr val="FFFFFF"/>
                </a:solidFill>
                <a:effectLst/>
                <a:uFillTx/>
                <a:latin typeface="Inter"/>
                <a:ea typeface="Inter"/>
              </a:rPr>
              <a:t>1</a:t>
            </a:r>
            <a:endParaRPr lang="en-US" sz="2700" b="0" u="none" strike="noStrike">
              <a:solidFill>
                <a:srgbClr val="000000"/>
              </a:solidFill>
              <a:effectLst/>
              <a:uFillTx/>
              <a:latin typeface="Arial"/>
            </a:endParaRPr>
          </a:p>
        </p:txBody>
      </p:sp>
      <p:sp>
        <p:nvSpPr>
          <p:cNvPr id="111" name="Text 9"/>
          <p:cNvSpPr/>
          <p:nvPr/>
        </p:nvSpPr>
        <p:spPr>
          <a:xfrm>
            <a:off x="786240" y="3758040"/>
            <a:ext cx="1910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40" b="1" u="none" strike="noStrike">
                <a:solidFill>
                  <a:srgbClr val="12243D"/>
                </a:solidFill>
                <a:effectLst/>
                <a:uFillTx/>
                <a:latin typeface="Inter"/>
                <a:ea typeface="Inter"/>
              </a:rPr>
              <a:t>ENCIENDE</a:t>
            </a:r>
            <a:endParaRPr lang="en-US" sz="1640" b="0" u="none" strike="noStrike">
              <a:solidFill>
                <a:srgbClr val="000000"/>
              </a:solidFill>
              <a:effectLst/>
              <a:uFillTx/>
              <a:latin typeface="Arial"/>
            </a:endParaRPr>
          </a:p>
        </p:txBody>
      </p:sp>
      <p:sp>
        <p:nvSpPr>
          <p:cNvPr id="112" name="Text 10"/>
          <p:cNvSpPr/>
          <p:nvPr/>
        </p:nvSpPr>
        <p:spPr>
          <a:xfrm>
            <a:off x="859680" y="4151520"/>
            <a:ext cx="178272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0" u="none" strike="noStrike">
                <a:solidFill>
                  <a:srgbClr val="657389"/>
                </a:solidFill>
                <a:effectLst/>
                <a:uFillTx/>
                <a:latin typeface="Inter"/>
                <a:ea typeface="Inter"/>
              </a:rPr>
              <a:t>La PC de MoonLink</a:t>
            </a:r>
            <a:endParaRPr lang="en-US" sz="1350" b="0" u="none" strike="noStrike">
              <a:solidFill>
                <a:srgbClr val="000000"/>
              </a:solidFill>
              <a:effectLst/>
              <a:uFillTx/>
              <a:latin typeface="Arial"/>
            </a:endParaRPr>
          </a:p>
          <a:p>
            <a:pPr algn="ctr" defTabSz="914400">
              <a:lnSpc>
                <a:spcPct val="100000"/>
              </a:lnSpc>
              <a:tabLst>
                <a:tab pos="0" algn="l"/>
              </a:tabLst>
            </a:pPr>
            <a:r>
              <a:rPr lang="en-US" sz="1350" b="0" u="none" strike="noStrike">
                <a:solidFill>
                  <a:srgbClr val="657389"/>
                </a:solidFill>
                <a:effectLst/>
                <a:uFillTx/>
                <a:latin typeface="Inter"/>
                <a:ea typeface="Inter"/>
              </a:rPr>
              <a:t>se conecta a la red.</a:t>
            </a:r>
            <a:endParaRPr lang="en-US" sz="1350" b="0" u="none" strike="noStrike">
              <a:solidFill>
                <a:srgbClr val="000000"/>
              </a:solidFill>
              <a:effectLst/>
              <a:uFillTx/>
              <a:latin typeface="Arial"/>
            </a:endParaRPr>
          </a:p>
        </p:txBody>
      </p:sp>
      <p:sp>
        <p:nvSpPr>
          <p:cNvPr id="113" name="Shape 11"/>
          <p:cNvSpPr/>
          <p:nvPr/>
        </p:nvSpPr>
        <p:spPr>
          <a:xfrm>
            <a:off x="2935080" y="3657600"/>
            <a:ext cx="511920" cy="360"/>
          </a:xfrm>
          <a:prstGeom prst="line">
            <a:avLst/>
          </a:prstGeom>
          <a:ln w="34290">
            <a:solidFill>
              <a:srgbClr val="12243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14" name="Shape 12"/>
          <p:cNvSpPr/>
          <p:nvPr/>
        </p:nvSpPr>
        <p:spPr>
          <a:xfrm>
            <a:off x="3566160" y="2432160"/>
            <a:ext cx="2157480" cy="2523240"/>
          </a:xfrm>
          <a:prstGeom prst="roundRect">
            <a:avLst>
              <a:gd name="adj" fmla="val 9746"/>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 name="Shape 13"/>
          <p:cNvSpPr/>
          <p:nvPr/>
        </p:nvSpPr>
        <p:spPr>
          <a:xfrm>
            <a:off x="4169520" y="2679120"/>
            <a:ext cx="923040" cy="923040"/>
          </a:xfrm>
          <a:prstGeom prst="ellipse">
            <a:avLst/>
          </a:prstGeom>
          <a:solidFill>
            <a:srgbClr val="FFAA5B"/>
          </a:solidFill>
          <a:ln w="12700">
            <a:solidFill>
              <a:srgbClr val="FFAA5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 name="Text 14"/>
          <p:cNvSpPr/>
          <p:nvPr/>
        </p:nvSpPr>
        <p:spPr>
          <a:xfrm>
            <a:off x="4169520" y="2889360"/>
            <a:ext cx="9230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700" b="1" u="none" strike="noStrike">
                <a:solidFill>
                  <a:srgbClr val="FFFFFF"/>
                </a:solidFill>
                <a:effectLst/>
                <a:uFillTx/>
                <a:latin typeface="Inter"/>
                <a:ea typeface="Inter"/>
              </a:rPr>
              <a:t>2</a:t>
            </a:r>
            <a:endParaRPr lang="en-US" sz="2700" b="0" u="none" strike="noStrike">
              <a:solidFill>
                <a:srgbClr val="000000"/>
              </a:solidFill>
              <a:effectLst/>
              <a:uFillTx/>
              <a:latin typeface="Arial"/>
            </a:endParaRPr>
          </a:p>
        </p:txBody>
      </p:sp>
      <p:sp>
        <p:nvSpPr>
          <p:cNvPr id="117" name="Text 15"/>
          <p:cNvSpPr/>
          <p:nvPr/>
        </p:nvSpPr>
        <p:spPr>
          <a:xfrm>
            <a:off x="3694320" y="3758040"/>
            <a:ext cx="1910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40" b="1" u="none" strike="noStrike">
                <a:solidFill>
                  <a:srgbClr val="12243D"/>
                </a:solidFill>
                <a:effectLst/>
                <a:uFillTx/>
                <a:latin typeface="Inter"/>
                <a:ea typeface="Inter"/>
              </a:rPr>
              <a:t>RECIBE IP</a:t>
            </a:r>
            <a:endParaRPr lang="en-US" sz="1640" b="0" u="none" strike="noStrike">
              <a:solidFill>
                <a:srgbClr val="000000"/>
              </a:solidFill>
              <a:effectLst/>
              <a:uFillTx/>
              <a:latin typeface="Arial"/>
            </a:endParaRPr>
          </a:p>
        </p:txBody>
      </p:sp>
      <p:sp>
        <p:nvSpPr>
          <p:cNvPr id="118" name="Text 16"/>
          <p:cNvSpPr/>
          <p:nvPr/>
        </p:nvSpPr>
        <p:spPr>
          <a:xfrm>
            <a:off x="3767400" y="4151520"/>
            <a:ext cx="178272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350" b="0" u="none" strike="noStrike">
                <a:solidFill>
                  <a:srgbClr val="657389"/>
                </a:solidFill>
                <a:effectLst/>
                <a:uFillTx/>
                <a:latin typeface="Inter"/>
                <a:ea typeface="Inter"/>
              </a:rPr>
              <a:t>AndinaCom le asigna</a:t>
            </a:r>
            <a:endParaRPr lang="en-US" sz="1350" b="0" u="none" strike="noStrike">
              <a:solidFill>
                <a:srgbClr val="000000"/>
              </a:solidFill>
              <a:effectLst/>
              <a:uFillTx/>
              <a:latin typeface="Arial"/>
            </a:endParaRPr>
          </a:p>
          <a:p>
            <a:pPr algn="ctr" defTabSz="914400">
              <a:lnSpc>
                <a:spcPct val="100000"/>
              </a:lnSpc>
              <a:tabLst>
                <a:tab pos="0" algn="l"/>
              </a:tabLst>
            </a:pPr>
            <a:r>
              <a:rPr lang="en-US" sz="1350" b="0" u="none" strike="noStrike">
                <a:solidFill>
                  <a:srgbClr val="657389"/>
                </a:solidFill>
                <a:effectLst/>
                <a:uFillTx/>
                <a:latin typeface="Inter"/>
                <a:ea typeface="Inter"/>
              </a:rPr>
              <a:t>una dirección (DHCP).</a:t>
            </a:r>
            <a:endParaRPr lang="en-US" sz="1350" b="0" u="none" strike="noStrike">
              <a:solidFill>
                <a:srgbClr val="000000"/>
              </a:solidFill>
              <a:effectLst/>
              <a:uFillTx/>
              <a:latin typeface="Arial"/>
            </a:endParaRPr>
          </a:p>
        </p:txBody>
      </p:sp>
      <p:sp>
        <p:nvSpPr>
          <p:cNvPr id="119" name="Shape 17"/>
          <p:cNvSpPr/>
          <p:nvPr/>
        </p:nvSpPr>
        <p:spPr>
          <a:xfrm>
            <a:off x="5842800" y="3657600"/>
            <a:ext cx="512280" cy="360"/>
          </a:xfrm>
          <a:prstGeom prst="line">
            <a:avLst/>
          </a:prstGeom>
          <a:ln w="34290">
            <a:solidFill>
              <a:srgbClr val="12243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20" name="Shape 18"/>
          <p:cNvSpPr/>
          <p:nvPr/>
        </p:nvSpPr>
        <p:spPr>
          <a:xfrm>
            <a:off x="6464880" y="2432160"/>
            <a:ext cx="2157480" cy="2523240"/>
          </a:xfrm>
          <a:prstGeom prst="roundRect">
            <a:avLst>
              <a:gd name="adj" fmla="val 9746"/>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 name="Shape 19"/>
          <p:cNvSpPr/>
          <p:nvPr/>
        </p:nvSpPr>
        <p:spPr>
          <a:xfrm>
            <a:off x="7068240" y="2679120"/>
            <a:ext cx="923040" cy="923040"/>
          </a:xfrm>
          <a:prstGeom prst="ellipse">
            <a:avLst/>
          </a:prstGeom>
          <a:solidFill>
            <a:srgbClr val="15A79A"/>
          </a:solidFill>
          <a:ln w="12700">
            <a:solidFill>
              <a:srgbClr val="15A79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2" name="Text 20"/>
          <p:cNvSpPr/>
          <p:nvPr/>
        </p:nvSpPr>
        <p:spPr>
          <a:xfrm>
            <a:off x="7068240" y="2889360"/>
            <a:ext cx="9230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700" b="1" u="none" strike="noStrike">
                <a:solidFill>
                  <a:srgbClr val="FFFFFF"/>
                </a:solidFill>
                <a:effectLst/>
                <a:uFillTx/>
                <a:latin typeface="Inter"/>
                <a:ea typeface="Inter"/>
              </a:rPr>
              <a:t>3</a:t>
            </a:r>
            <a:endParaRPr lang="en-US" sz="2700" b="0" u="none" strike="noStrike">
              <a:solidFill>
                <a:srgbClr val="000000"/>
              </a:solidFill>
              <a:effectLst/>
              <a:uFillTx/>
              <a:latin typeface="Arial"/>
            </a:endParaRPr>
          </a:p>
        </p:txBody>
      </p:sp>
      <p:sp>
        <p:nvSpPr>
          <p:cNvPr id="123" name="Text 21"/>
          <p:cNvSpPr/>
          <p:nvPr/>
        </p:nvSpPr>
        <p:spPr>
          <a:xfrm>
            <a:off x="6592680" y="3758040"/>
            <a:ext cx="1910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40" b="1" u="none" strike="noStrike">
                <a:solidFill>
                  <a:srgbClr val="12243D"/>
                </a:solidFill>
                <a:effectLst/>
                <a:uFillTx/>
                <a:latin typeface="Inter"/>
                <a:ea typeface="Inter"/>
              </a:rPr>
              <a:t>BUSCA NOMBRE</a:t>
            </a:r>
            <a:endParaRPr lang="en-US" sz="1640" b="0" u="none" strike="noStrike">
              <a:solidFill>
                <a:srgbClr val="000000"/>
              </a:solidFill>
              <a:effectLst/>
              <a:uFillTx/>
              <a:latin typeface="Arial"/>
            </a:endParaRPr>
          </a:p>
        </p:txBody>
      </p:sp>
      <p:sp>
        <p:nvSpPr>
          <p:cNvPr id="124" name="Text 22"/>
          <p:cNvSpPr/>
          <p:nvPr/>
        </p:nvSpPr>
        <p:spPr>
          <a:xfrm>
            <a:off x="6666120" y="4151520"/>
            <a:ext cx="178272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0" u="none" strike="noStrike">
                <a:solidFill>
                  <a:srgbClr val="657389"/>
                </a:solidFill>
                <a:effectLst/>
                <a:uFillTx/>
                <a:latin typeface="Inter"/>
                <a:ea typeface="Inter"/>
              </a:rPr>
              <a:t>FibraNet traduce el</a:t>
            </a:r>
            <a:endParaRPr lang="en-US" sz="1350" b="0" u="none" strike="noStrike">
              <a:solidFill>
                <a:srgbClr val="000000"/>
              </a:solidFill>
              <a:effectLst/>
              <a:uFillTx/>
              <a:latin typeface="Arial"/>
            </a:endParaRPr>
          </a:p>
          <a:p>
            <a:pPr algn="ctr" defTabSz="914400">
              <a:lnSpc>
                <a:spcPct val="100000"/>
              </a:lnSpc>
              <a:tabLst>
                <a:tab pos="0" algn="l"/>
              </a:tabLst>
            </a:pPr>
            <a:r>
              <a:rPr lang="en-US" sz="1350" b="0" u="none" strike="noStrike">
                <a:solidFill>
                  <a:srgbClr val="657389"/>
                </a:solidFill>
                <a:effectLst/>
                <a:uFillTx/>
                <a:latin typeface="Inter"/>
                <a:ea typeface="Inter"/>
              </a:rPr>
              <a:t>dominio (DNS).</a:t>
            </a:r>
            <a:endParaRPr lang="en-US" sz="1350" b="0" u="none" strike="noStrike">
              <a:solidFill>
                <a:srgbClr val="000000"/>
              </a:solidFill>
              <a:effectLst/>
              <a:uFillTx/>
              <a:latin typeface="Arial"/>
            </a:endParaRPr>
          </a:p>
        </p:txBody>
      </p:sp>
      <p:sp>
        <p:nvSpPr>
          <p:cNvPr id="125" name="Shape 23"/>
          <p:cNvSpPr/>
          <p:nvPr/>
        </p:nvSpPr>
        <p:spPr>
          <a:xfrm>
            <a:off x="8741520" y="3657600"/>
            <a:ext cx="511920" cy="360"/>
          </a:xfrm>
          <a:prstGeom prst="line">
            <a:avLst/>
          </a:prstGeom>
          <a:ln w="34290">
            <a:solidFill>
              <a:srgbClr val="12243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26" name="Shape 24"/>
          <p:cNvSpPr/>
          <p:nvPr/>
        </p:nvSpPr>
        <p:spPr>
          <a:xfrm>
            <a:off x="9363600" y="2432160"/>
            <a:ext cx="2157480" cy="2523240"/>
          </a:xfrm>
          <a:prstGeom prst="roundRect">
            <a:avLst>
              <a:gd name="adj" fmla="val 9746"/>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7" name="Shape 25"/>
          <p:cNvSpPr/>
          <p:nvPr/>
        </p:nvSpPr>
        <p:spPr>
          <a:xfrm>
            <a:off x="9966960" y="2679120"/>
            <a:ext cx="923040" cy="923040"/>
          </a:xfrm>
          <a:prstGeom prst="ellipse">
            <a:avLst/>
          </a:prstGeom>
          <a:solidFill>
            <a:srgbClr val="865DEB"/>
          </a:solidFill>
          <a:ln w="12700">
            <a:solidFill>
              <a:srgbClr val="865DE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8" name="Text 26"/>
          <p:cNvSpPr/>
          <p:nvPr/>
        </p:nvSpPr>
        <p:spPr>
          <a:xfrm>
            <a:off x="9966960" y="2889360"/>
            <a:ext cx="9230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700" b="1" u="none" strike="noStrike">
                <a:solidFill>
                  <a:srgbClr val="FFFFFF"/>
                </a:solidFill>
                <a:effectLst/>
                <a:uFillTx/>
                <a:latin typeface="Inter"/>
                <a:ea typeface="Inter"/>
              </a:rPr>
              <a:t>4</a:t>
            </a:r>
            <a:endParaRPr lang="en-US" sz="2700" b="0" u="none" strike="noStrike">
              <a:solidFill>
                <a:srgbClr val="000000"/>
              </a:solidFill>
              <a:effectLst/>
              <a:uFillTx/>
              <a:latin typeface="Arial"/>
            </a:endParaRPr>
          </a:p>
        </p:txBody>
      </p:sp>
      <p:sp>
        <p:nvSpPr>
          <p:cNvPr id="129" name="Text 27"/>
          <p:cNvSpPr/>
          <p:nvPr/>
        </p:nvSpPr>
        <p:spPr>
          <a:xfrm>
            <a:off x="9491400" y="3758040"/>
            <a:ext cx="19108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40" b="1" u="none" strike="noStrike">
                <a:solidFill>
                  <a:srgbClr val="12243D"/>
                </a:solidFill>
                <a:effectLst/>
                <a:uFillTx/>
                <a:latin typeface="Inter"/>
                <a:ea typeface="Inter"/>
              </a:rPr>
              <a:t>VE EL SITIO</a:t>
            </a:r>
            <a:endParaRPr lang="en-US" sz="1640" b="0" u="none" strike="noStrike">
              <a:solidFill>
                <a:srgbClr val="000000"/>
              </a:solidFill>
              <a:effectLst/>
              <a:uFillTx/>
              <a:latin typeface="Arial"/>
            </a:endParaRPr>
          </a:p>
        </p:txBody>
      </p:sp>
      <p:sp>
        <p:nvSpPr>
          <p:cNvPr id="130" name="Text 28"/>
          <p:cNvSpPr/>
          <p:nvPr/>
        </p:nvSpPr>
        <p:spPr>
          <a:xfrm>
            <a:off x="9564480" y="4151520"/>
            <a:ext cx="178272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0" u="none" strike="noStrike">
                <a:solidFill>
                  <a:srgbClr val="657389"/>
                </a:solidFill>
                <a:effectLst/>
                <a:uFillTx/>
                <a:latin typeface="Inter"/>
                <a:ea typeface="Inter"/>
              </a:rPr>
              <a:t>Se abre la página</a:t>
            </a:r>
            <a:endParaRPr lang="en-US" sz="1350" b="0" u="none" strike="noStrike">
              <a:solidFill>
                <a:srgbClr val="000000"/>
              </a:solidFill>
              <a:effectLst/>
              <a:uFillTx/>
              <a:latin typeface="Arial"/>
            </a:endParaRPr>
          </a:p>
          <a:p>
            <a:pPr algn="ctr" defTabSz="914400">
              <a:lnSpc>
                <a:spcPct val="100000"/>
              </a:lnSpc>
              <a:tabLst>
                <a:tab pos="0" algn="l"/>
              </a:tabLst>
            </a:pPr>
            <a:r>
              <a:rPr lang="en-US" sz="1350" b="0" u="none" strike="noStrike">
                <a:solidFill>
                  <a:srgbClr val="657389"/>
                </a:solidFill>
                <a:effectLst/>
                <a:uFillTx/>
                <a:latin typeface="Inter"/>
                <a:ea typeface="Inter"/>
              </a:rPr>
              <a:t>de FibraNet (HTTP).</a:t>
            </a:r>
            <a:endParaRPr lang="en-US" sz="1350" b="0" u="none" strike="noStrike">
              <a:solidFill>
                <a:srgbClr val="000000"/>
              </a:solidFill>
              <a:effectLst/>
              <a:uFillTx/>
              <a:latin typeface="Arial"/>
            </a:endParaRPr>
          </a:p>
        </p:txBody>
      </p:sp>
      <p:sp>
        <p:nvSpPr>
          <p:cNvPr id="131" name="Shape 29"/>
          <p:cNvSpPr/>
          <p:nvPr/>
        </p:nvSpPr>
        <p:spPr>
          <a:xfrm>
            <a:off x="1508760" y="5422320"/>
            <a:ext cx="9143640" cy="475200"/>
          </a:xfrm>
          <a:prstGeom prst="roundRect">
            <a:avLst>
              <a:gd name="adj" fmla="val 38462"/>
            </a:avLst>
          </a:prstGeom>
          <a:solidFill>
            <a:srgbClr val="111F34"/>
          </a:solidFill>
          <a:ln w="12700">
            <a:solidFill>
              <a:srgbClr val="111F34">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2" name="Text 30"/>
          <p:cNvSpPr/>
          <p:nvPr/>
        </p:nvSpPr>
        <p:spPr>
          <a:xfrm>
            <a:off x="1783080" y="5523120"/>
            <a:ext cx="863172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u="none" strike="noStrike">
                <a:solidFill>
                  <a:srgbClr val="FFFFFF"/>
                </a:solidFill>
                <a:effectLst/>
                <a:uFillTx/>
                <a:latin typeface="Inter"/>
                <a:ea typeface="Inter"/>
              </a:rPr>
              <a:t>Resultado: la página se abre desde otra empresa, sin configurar IP manualmente.</a:t>
            </a:r>
            <a:endParaRPr lang="en-US" sz="16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33" name="Shape 0"/>
          <p:cNvSpPr/>
          <p:nvPr/>
        </p:nvSpPr>
        <p:spPr>
          <a:xfrm>
            <a:off x="502920" y="311040"/>
            <a:ext cx="2057040" cy="310680"/>
          </a:xfrm>
          <a:prstGeom prst="roundRect">
            <a:avLst>
              <a:gd name="adj" fmla="val 29412"/>
            </a:avLst>
          </a:prstGeom>
          <a:solidFill>
            <a:srgbClr val="DBF5EF"/>
          </a:solidFill>
          <a:ln w="12700">
            <a:solidFill>
              <a:srgbClr val="DBF5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 name="Text 1"/>
          <p:cNvSpPr/>
          <p:nvPr/>
        </p:nvSpPr>
        <p:spPr>
          <a:xfrm>
            <a:off x="612720" y="361080"/>
            <a:ext cx="18374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00" b="1" u="none" strike="noStrike">
                <a:solidFill>
                  <a:srgbClr val="15A79A"/>
                </a:solidFill>
                <a:effectLst/>
                <a:uFillTx/>
                <a:latin typeface="Inter"/>
                <a:ea typeface="Inter"/>
              </a:rPr>
              <a:t>CONTINUIDAD</a:t>
            </a:r>
            <a:endParaRPr lang="en-US" sz="1000" b="0" u="none" strike="noStrike">
              <a:solidFill>
                <a:srgbClr val="000000"/>
              </a:solidFill>
              <a:effectLst/>
              <a:uFillTx/>
              <a:latin typeface="Arial"/>
            </a:endParaRPr>
          </a:p>
        </p:txBody>
      </p:sp>
      <p:sp>
        <p:nvSpPr>
          <p:cNvPr id="135" name="Text 2"/>
          <p:cNvSpPr/>
          <p:nvPr/>
        </p:nvSpPr>
        <p:spPr>
          <a:xfrm>
            <a:off x="502920" y="877680"/>
            <a:ext cx="10972440" cy="648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2243D"/>
                </a:solidFill>
                <a:effectLst/>
                <a:uFillTx/>
                <a:latin typeface="Inter"/>
                <a:ea typeface="Inter"/>
              </a:rPr>
              <a:t>¿Y si el router principal deja de funcionar?</a:t>
            </a:r>
            <a:endParaRPr lang="en-US" sz="3400" b="0" u="none" strike="noStrike">
              <a:solidFill>
                <a:srgbClr val="000000"/>
              </a:solidFill>
              <a:effectLst/>
              <a:uFillTx/>
              <a:latin typeface="Arial"/>
            </a:endParaRPr>
          </a:p>
        </p:txBody>
      </p:sp>
      <p:sp>
        <p:nvSpPr>
          <p:cNvPr id="136" name="Text 3"/>
          <p:cNvSpPr/>
          <p:nvPr/>
        </p:nvSpPr>
        <p:spPr>
          <a:xfrm>
            <a:off x="511920" y="1591200"/>
            <a:ext cx="10789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40" b="0" u="none" strike="noStrike">
                <a:solidFill>
                  <a:srgbClr val="657389"/>
                </a:solidFill>
                <a:effectLst/>
                <a:uFillTx/>
                <a:latin typeface="Inter"/>
                <a:ea typeface="Inter"/>
              </a:rPr>
              <a:t>HSRP permite que el equipo de respaldo tome el control.</a:t>
            </a:r>
            <a:endParaRPr lang="en-US" sz="1540" b="0" u="none" strike="noStrike">
              <a:solidFill>
                <a:srgbClr val="000000"/>
              </a:solidFill>
              <a:effectLst/>
              <a:uFillTx/>
              <a:latin typeface="Arial"/>
            </a:endParaRPr>
          </a:p>
        </p:txBody>
      </p:sp>
      <p:sp>
        <p:nvSpPr>
          <p:cNvPr id="137" name="Text 4"/>
          <p:cNvSpPr/>
          <p:nvPr/>
        </p:nvSpPr>
        <p:spPr>
          <a:xfrm>
            <a:off x="484560" y="651960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0" u="none" strike="noStrike">
                <a:solidFill>
                  <a:srgbClr val="657389"/>
                </a:solidFill>
                <a:effectLst/>
                <a:uFillTx/>
                <a:latin typeface="Inter"/>
                <a:ea typeface="Inter"/>
              </a:rPr>
              <a:t>REDES 2 · EDIN SANTIZO · 202202072</a:t>
            </a:r>
            <a:endParaRPr lang="en-US" sz="900" b="0" u="none" strike="noStrike">
              <a:solidFill>
                <a:srgbClr val="000000"/>
              </a:solidFill>
              <a:effectLst/>
              <a:uFillTx/>
              <a:latin typeface="Arial"/>
            </a:endParaRPr>
          </a:p>
        </p:txBody>
      </p:sp>
      <p:sp>
        <p:nvSpPr>
          <p:cNvPr id="138" name="Text 5"/>
          <p:cNvSpPr/>
          <p:nvPr/>
        </p:nvSpPr>
        <p:spPr>
          <a:xfrm>
            <a:off x="11064240" y="649224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900" b="0" u="none" strike="noStrike">
                <a:solidFill>
                  <a:srgbClr val="657389"/>
                </a:solidFill>
                <a:effectLst/>
                <a:uFillTx/>
                <a:latin typeface="Inter"/>
                <a:ea typeface="Inter"/>
              </a:rPr>
              <a:t>06</a:t>
            </a:r>
            <a:endParaRPr lang="en-US" sz="900" b="0" u="none" strike="noStrike">
              <a:solidFill>
                <a:srgbClr val="000000"/>
              </a:solidFill>
              <a:effectLst/>
              <a:uFillTx/>
              <a:latin typeface="Arial"/>
            </a:endParaRPr>
          </a:p>
        </p:txBody>
      </p:sp>
      <p:sp>
        <p:nvSpPr>
          <p:cNvPr id="139" name="Shape 6"/>
          <p:cNvSpPr/>
          <p:nvPr/>
        </p:nvSpPr>
        <p:spPr>
          <a:xfrm>
            <a:off x="685800" y="2212920"/>
            <a:ext cx="5111280" cy="3346200"/>
          </a:xfrm>
          <a:prstGeom prst="roundRect">
            <a:avLst>
              <a:gd name="adj" fmla="val 5464"/>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0" name="Shape 7"/>
          <p:cNvSpPr/>
          <p:nvPr/>
        </p:nvSpPr>
        <p:spPr>
          <a:xfrm>
            <a:off x="6373440" y="2212920"/>
            <a:ext cx="5111280" cy="3346200"/>
          </a:xfrm>
          <a:prstGeom prst="roundRect">
            <a:avLst>
              <a:gd name="adj" fmla="val 5464"/>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1" name="Shape 8"/>
          <p:cNvSpPr/>
          <p:nvPr/>
        </p:nvSpPr>
        <p:spPr>
          <a:xfrm>
            <a:off x="896040" y="2386440"/>
            <a:ext cx="1618200" cy="310680"/>
          </a:xfrm>
          <a:prstGeom prst="roundRect">
            <a:avLst>
              <a:gd name="adj" fmla="val 29412"/>
            </a:avLst>
          </a:prstGeom>
          <a:solidFill>
            <a:srgbClr val="DBF5EF"/>
          </a:solidFill>
          <a:ln w="12700">
            <a:solidFill>
              <a:srgbClr val="DBF5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2" name="Text 9"/>
          <p:cNvSpPr/>
          <p:nvPr/>
        </p:nvSpPr>
        <p:spPr>
          <a:xfrm>
            <a:off x="1005840" y="2436840"/>
            <a:ext cx="139860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a:solidFill>
                  <a:srgbClr val="15A79A"/>
                </a:solidFill>
                <a:effectLst/>
                <a:uFillTx/>
                <a:latin typeface="Inter"/>
                <a:ea typeface="Inter"/>
              </a:rPr>
              <a:t>ESTADO NORMAL</a:t>
            </a:r>
            <a:endParaRPr lang="en-US" sz="1100" b="0" u="none" strike="noStrike">
              <a:solidFill>
                <a:srgbClr val="000000"/>
              </a:solidFill>
              <a:effectLst/>
              <a:uFillTx/>
              <a:latin typeface="Arial"/>
            </a:endParaRPr>
          </a:p>
        </p:txBody>
      </p:sp>
      <p:sp>
        <p:nvSpPr>
          <p:cNvPr id="143" name="Shape 10"/>
          <p:cNvSpPr/>
          <p:nvPr/>
        </p:nvSpPr>
        <p:spPr>
          <a:xfrm>
            <a:off x="6583680" y="2386440"/>
            <a:ext cx="1636560" cy="310680"/>
          </a:xfrm>
          <a:prstGeom prst="roundRect">
            <a:avLst>
              <a:gd name="adj" fmla="val 29412"/>
            </a:avLst>
          </a:prstGeom>
          <a:solidFill>
            <a:srgbClr val="FDECEF"/>
          </a:solidFill>
          <a:ln w="12700">
            <a:solidFill>
              <a:srgbClr val="FDEC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4" name="Text 11"/>
          <p:cNvSpPr/>
          <p:nvPr/>
        </p:nvSpPr>
        <p:spPr>
          <a:xfrm>
            <a:off x="6693480" y="2436840"/>
            <a:ext cx="14169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a:solidFill>
                  <a:srgbClr val="D75159"/>
                </a:solidFill>
                <a:effectLst/>
                <a:uFillTx/>
                <a:latin typeface="Inter"/>
                <a:ea typeface="Inter"/>
              </a:rPr>
              <a:t>CUANDO FALLA</a:t>
            </a:r>
            <a:endParaRPr lang="en-US" sz="1100" b="0" u="none" strike="noStrike">
              <a:solidFill>
                <a:srgbClr val="000000"/>
              </a:solidFill>
              <a:effectLst/>
              <a:uFillTx/>
              <a:latin typeface="Arial"/>
            </a:endParaRPr>
          </a:p>
        </p:txBody>
      </p:sp>
      <p:sp>
        <p:nvSpPr>
          <p:cNvPr id="145" name="Shape 12"/>
          <p:cNvSpPr/>
          <p:nvPr/>
        </p:nvSpPr>
        <p:spPr>
          <a:xfrm>
            <a:off x="1252800" y="3026520"/>
            <a:ext cx="1142640" cy="1142640"/>
          </a:xfrm>
          <a:prstGeom prst="ellipse">
            <a:avLst/>
          </a:prstGeom>
          <a:solidFill>
            <a:srgbClr val="15A79A"/>
          </a:solidFill>
          <a:ln w="12700">
            <a:solidFill>
              <a:srgbClr val="15A79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6" name="Text 13"/>
          <p:cNvSpPr/>
          <p:nvPr/>
        </p:nvSpPr>
        <p:spPr>
          <a:xfrm>
            <a:off x="1252800" y="3337560"/>
            <a:ext cx="114264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300" b="1" u="none" strike="noStrike">
                <a:solidFill>
                  <a:srgbClr val="FFFFFF"/>
                </a:solidFill>
                <a:effectLst/>
                <a:uFillTx/>
                <a:latin typeface="Inter"/>
                <a:ea typeface="Inter"/>
              </a:rPr>
              <a:t>R1</a:t>
            </a:r>
            <a:endParaRPr lang="en-US" sz="2300" b="0" u="none" strike="noStrike">
              <a:solidFill>
                <a:srgbClr val="000000"/>
              </a:solidFill>
              <a:effectLst/>
              <a:uFillTx/>
              <a:latin typeface="Arial"/>
            </a:endParaRPr>
          </a:p>
        </p:txBody>
      </p:sp>
      <p:sp>
        <p:nvSpPr>
          <p:cNvPr id="147" name="Shape 14"/>
          <p:cNvSpPr/>
          <p:nvPr/>
        </p:nvSpPr>
        <p:spPr>
          <a:xfrm>
            <a:off x="3447360" y="3026520"/>
            <a:ext cx="1142640" cy="1142640"/>
          </a:xfrm>
          <a:prstGeom prst="ellipse">
            <a:avLst/>
          </a:prstGeom>
          <a:solidFill>
            <a:srgbClr val="F0F3F8"/>
          </a:solidFill>
          <a:ln w="12700">
            <a:solidFill>
              <a:srgbClr val="F0F3F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8" name="Text 15"/>
          <p:cNvSpPr/>
          <p:nvPr/>
        </p:nvSpPr>
        <p:spPr>
          <a:xfrm>
            <a:off x="3447360" y="3337560"/>
            <a:ext cx="114264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300" b="1" u="none" strike="noStrike">
                <a:solidFill>
                  <a:srgbClr val="657389"/>
                </a:solidFill>
                <a:effectLst/>
                <a:uFillTx/>
                <a:latin typeface="Inter"/>
                <a:ea typeface="Inter"/>
              </a:rPr>
              <a:t>R2</a:t>
            </a:r>
            <a:endParaRPr lang="en-US" sz="2300" b="0" u="none" strike="noStrike">
              <a:solidFill>
                <a:srgbClr val="000000"/>
              </a:solidFill>
              <a:effectLst/>
              <a:uFillTx/>
              <a:latin typeface="Arial"/>
            </a:endParaRPr>
          </a:p>
        </p:txBody>
      </p:sp>
      <p:sp>
        <p:nvSpPr>
          <p:cNvPr id="149" name="Text 16"/>
          <p:cNvSpPr/>
          <p:nvPr/>
        </p:nvSpPr>
        <p:spPr>
          <a:xfrm>
            <a:off x="1188720" y="4352400"/>
            <a:ext cx="1334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15A79A"/>
                </a:solidFill>
                <a:effectLst/>
                <a:uFillTx/>
                <a:latin typeface="Inter"/>
                <a:ea typeface="Inter"/>
              </a:rPr>
              <a:t>PRINCIPAL</a:t>
            </a:r>
            <a:endParaRPr lang="en-US" sz="1300" b="0" u="none" strike="noStrike">
              <a:solidFill>
                <a:srgbClr val="000000"/>
              </a:solidFill>
              <a:effectLst/>
              <a:uFillTx/>
              <a:latin typeface="Arial"/>
            </a:endParaRPr>
          </a:p>
        </p:txBody>
      </p:sp>
      <p:sp>
        <p:nvSpPr>
          <p:cNvPr id="150" name="Text 17"/>
          <p:cNvSpPr/>
          <p:nvPr/>
        </p:nvSpPr>
        <p:spPr>
          <a:xfrm>
            <a:off x="3346560" y="4352400"/>
            <a:ext cx="13438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657389"/>
                </a:solidFill>
                <a:effectLst/>
                <a:uFillTx/>
                <a:latin typeface="Inter"/>
                <a:ea typeface="Inter"/>
              </a:rPr>
              <a:t>RESPALDO</a:t>
            </a:r>
            <a:endParaRPr lang="en-US" sz="1300" b="0" u="none" strike="noStrike">
              <a:solidFill>
                <a:srgbClr val="000000"/>
              </a:solidFill>
              <a:effectLst/>
              <a:uFillTx/>
              <a:latin typeface="Arial"/>
            </a:endParaRPr>
          </a:p>
        </p:txBody>
      </p:sp>
      <p:sp>
        <p:nvSpPr>
          <p:cNvPr id="151" name="Shape 18"/>
          <p:cNvSpPr/>
          <p:nvPr/>
        </p:nvSpPr>
        <p:spPr>
          <a:xfrm>
            <a:off x="2550960" y="3648240"/>
            <a:ext cx="786600" cy="360"/>
          </a:xfrm>
          <a:prstGeom prst="line">
            <a:avLst/>
          </a:prstGeom>
          <a:ln w="38100">
            <a:solidFill>
              <a:srgbClr val="E0E6EF"/>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52" name="Shape 19"/>
          <p:cNvSpPr/>
          <p:nvPr/>
        </p:nvSpPr>
        <p:spPr>
          <a:xfrm>
            <a:off x="6931080" y="3026520"/>
            <a:ext cx="1142640" cy="1142640"/>
          </a:xfrm>
          <a:prstGeom prst="ellipse">
            <a:avLst/>
          </a:prstGeom>
          <a:solidFill>
            <a:srgbClr val="FDECEF"/>
          </a:solidFill>
          <a:ln w="12700">
            <a:solidFill>
              <a:srgbClr val="FDEC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3" name="Text 20"/>
          <p:cNvSpPr/>
          <p:nvPr/>
        </p:nvSpPr>
        <p:spPr>
          <a:xfrm>
            <a:off x="6931080" y="3328560"/>
            <a:ext cx="114264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300" b="1" u="none" strike="noStrike">
                <a:solidFill>
                  <a:srgbClr val="D75159"/>
                </a:solidFill>
                <a:effectLst/>
                <a:uFillTx/>
                <a:latin typeface="Inter"/>
                <a:ea typeface="Inter"/>
              </a:rPr>
              <a:t>R1</a:t>
            </a:r>
            <a:endParaRPr lang="en-US" sz="2300" b="0" u="none" strike="noStrike">
              <a:solidFill>
                <a:srgbClr val="000000"/>
              </a:solidFill>
              <a:effectLst/>
              <a:uFillTx/>
              <a:latin typeface="Arial"/>
            </a:endParaRPr>
          </a:p>
        </p:txBody>
      </p:sp>
      <p:sp>
        <p:nvSpPr>
          <p:cNvPr id="154" name="Shape 21"/>
          <p:cNvSpPr/>
          <p:nvPr/>
        </p:nvSpPr>
        <p:spPr>
          <a:xfrm>
            <a:off x="7205400" y="3200400"/>
            <a:ext cx="576000" cy="676440"/>
          </a:xfrm>
          <a:prstGeom prst="line">
            <a:avLst/>
          </a:prstGeom>
          <a:ln w="38100">
            <a:solidFill>
              <a:srgbClr val="D75159"/>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5" name="Shape 22"/>
          <p:cNvSpPr/>
          <p:nvPr/>
        </p:nvSpPr>
        <p:spPr>
          <a:xfrm flipH="1">
            <a:off x="7205400" y="3200400"/>
            <a:ext cx="567000" cy="676440"/>
          </a:xfrm>
          <a:prstGeom prst="line">
            <a:avLst/>
          </a:prstGeom>
          <a:ln w="38100">
            <a:solidFill>
              <a:srgbClr val="D75159"/>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6" name="Shape 23"/>
          <p:cNvSpPr/>
          <p:nvPr/>
        </p:nvSpPr>
        <p:spPr>
          <a:xfrm>
            <a:off x="9125640" y="3026520"/>
            <a:ext cx="1142640" cy="1142640"/>
          </a:xfrm>
          <a:prstGeom prst="ellipse">
            <a:avLst/>
          </a:prstGeom>
          <a:solidFill>
            <a:srgbClr val="15A79A"/>
          </a:solidFill>
          <a:ln w="12700">
            <a:solidFill>
              <a:srgbClr val="15A79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7" name="Text 24"/>
          <p:cNvSpPr/>
          <p:nvPr/>
        </p:nvSpPr>
        <p:spPr>
          <a:xfrm>
            <a:off x="9125640" y="3337560"/>
            <a:ext cx="114264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300" b="1" u="none" strike="noStrike">
                <a:solidFill>
                  <a:srgbClr val="FFFFFF"/>
                </a:solidFill>
                <a:effectLst/>
                <a:uFillTx/>
                <a:latin typeface="Inter"/>
                <a:ea typeface="Inter"/>
              </a:rPr>
              <a:t>R2</a:t>
            </a:r>
            <a:endParaRPr lang="en-US" sz="2300" b="0" u="none" strike="noStrike">
              <a:solidFill>
                <a:srgbClr val="000000"/>
              </a:solidFill>
              <a:effectLst/>
              <a:uFillTx/>
              <a:latin typeface="Arial"/>
            </a:endParaRPr>
          </a:p>
        </p:txBody>
      </p:sp>
      <p:sp>
        <p:nvSpPr>
          <p:cNvPr id="158" name="Text 25"/>
          <p:cNvSpPr/>
          <p:nvPr/>
        </p:nvSpPr>
        <p:spPr>
          <a:xfrm>
            <a:off x="6812280" y="4352400"/>
            <a:ext cx="14169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D75159"/>
                </a:solidFill>
                <a:effectLst/>
                <a:uFillTx/>
                <a:latin typeface="Inter"/>
                <a:ea typeface="Inter"/>
              </a:rPr>
              <a:t>NO DISPONIBLE</a:t>
            </a:r>
            <a:endParaRPr lang="en-US" sz="1300" b="0" u="none" strike="noStrike">
              <a:solidFill>
                <a:srgbClr val="000000"/>
              </a:solidFill>
              <a:effectLst/>
              <a:uFillTx/>
              <a:latin typeface="Arial"/>
            </a:endParaRPr>
          </a:p>
        </p:txBody>
      </p:sp>
      <p:sp>
        <p:nvSpPr>
          <p:cNvPr id="159" name="Text 26"/>
          <p:cNvSpPr/>
          <p:nvPr/>
        </p:nvSpPr>
        <p:spPr>
          <a:xfrm>
            <a:off x="8915400" y="4352400"/>
            <a:ext cx="16182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15A79A"/>
                </a:solidFill>
                <a:effectLst/>
                <a:uFillTx/>
                <a:latin typeface="Inter"/>
                <a:ea typeface="Inter"/>
              </a:rPr>
              <a:t>TOMA EL CONTROL</a:t>
            </a:r>
            <a:endParaRPr lang="en-US" sz="1300" b="0" u="none" strike="noStrike">
              <a:solidFill>
                <a:srgbClr val="000000"/>
              </a:solidFill>
              <a:effectLst/>
              <a:uFillTx/>
              <a:latin typeface="Arial"/>
            </a:endParaRPr>
          </a:p>
        </p:txBody>
      </p:sp>
      <p:sp>
        <p:nvSpPr>
          <p:cNvPr id="160" name="Text 27"/>
          <p:cNvSpPr/>
          <p:nvPr/>
        </p:nvSpPr>
        <p:spPr>
          <a:xfrm>
            <a:off x="951120" y="5916240"/>
            <a:ext cx="1046052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900" b="1" u="none" strike="noStrike">
                <a:solidFill>
                  <a:srgbClr val="12243D"/>
                </a:solidFill>
                <a:effectLst/>
                <a:uFillTx/>
                <a:latin typeface="Inter"/>
                <a:ea typeface="Inter"/>
              </a:rPr>
              <a:t>Probamos la falla y el segundo router asumió el papel principal.</a:t>
            </a:r>
            <a:endParaRPr lang="en-US" sz="19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61" name="Shape 0"/>
          <p:cNvSpPr/>
          <p:nvPr/>
        </p:nvSpPr>
        <p:spPr>
          <a:xfrm>
            <a:off x="502920" y="311040"/>
            <a:ext cx="2057040" cy="310680"/>
          </a:xfrm>
          <a:prstGeom prst="roundRect">
            <a:avLst>
              <a:gd name="adj" fmla="val 29412"/>
            </a:avLst>
          </a:prstGeom>
          <a:solidFill>
            <a:srgbClr val="DBF5EF"/>
          </a:solidFill>
          <a:ln w="12700">
            <a:solidFill>
              <a:srgbClr val="DBF5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2" name="Text 1"/>
          <p:cNvSpPr/>
          <p:nvPr/>
        </p:nvSpPr>
        <p:spPr>
          <a:xfrm>
            <a:off x="612720" y="361080"/>
            <a:ext cx="18374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00" b="1" u="none" strike="noStrike">
                <a:solidFill>
                  <a:srgbClr val="15A79A"/>
                </a:solidFill>
                <a:effectLst/>
                <a:uFillTx/>
                <a:latin typeface="Inter"/>
                <a:ea typeface="Inter"/>
              </a:rPr>
              <a:t>SEGURIDAD</a:t>
            </a:r>
            <a:endParaRPr lang="en-US" sz="1000" b="0" u="none" strike="noStrike">
              <a:solidFill>
                <a:srgbClr val="000000"/>
              </a:solidFill>
              <a:effectLst/>
              <a:uFillTx/>
              <a:latin typeface="Arial"/>
            </a:endParaRPr>
          </a:p>
        </p:txBody>
      </p:sp>
      <p:sp>
        <p:nvSpPr>
          <p:cNvPr id="163" name="Text 2"/>
          <p:cNvSpPr/>
          <p:nvPr/>
        </p:nvSpPr>
        <p:spPr>
          <a:xfrm>
            <a:off x="502920" y="877680"/>
            <a:ext cx="10972440" cy="648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2243D"/>
                </a:solidFill>
                <a:effectLst/>
                <a:uFillTx/>
                <a:latin typeface="Inter"/>
                <a:ea typeface="Inter"/>
              </a:rPr>
              <a:t>No todo el mundo puede entrar a cualquier área</a:t>
            </a:r>
            <a:endParaRPr lang="en-US" sz="3400" b="0" u="none" strike="noStrike">
              <a:solidFill>
                <a:srgbClr val="000000"/>
              </a:solidFill>
              <a:effectLst/>
              <a:uFillTx/>
              <a:latin typeface="Arial"/>
            </a:endParaRPr>
          </a:p>
        </p:txBody>
      </p:sp>
      <p:sp>
        <p:nvSpPr>
          <p:cNvPr id="164" name="Text 3"/>
          <p:cNvSpPr/>
          <p:nvPr/>
        </p:nvSpPr>
        <p:spPr>
          <a:xfrm>
            <a:off x="511920" y="1591200"/>
            <a:ext cx="10789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40" b="0" u="none" strike="noStrike">
                <a:solidFill>
                  <a:srgbClr val="657389"/>
                </a:solidFill>
                <a:effectLst/>
                <a:uFillTx/>
                <a:latin typeface="Inter"/>
                <a:ea typeface="Inter"/>
              </a:rPr>
              <a:t>Las reglas ACL funcionan como un guardia de acceso entre departamentos.</a:t>
            </a:r>
            <a:endParaRPr lang="en-US" sz="1540" b="0" u="none" strike="noStrike">
              <a:solidFill>
                <a:srgbClr val="000000"/>
              </a:solidFill>
              <a:effectLst/>
              <a:uFillTx/>
              <a:latin typeface="Arial"/>
            </a:endParaRPr>
          </a:p>
        </p:txBody>
      </p:sp>
      <p:sp>
        <p:nvSpPr>
          <p:cNvPr id="165" name="Text 4"/>
          <p:cNvSpPr/>
          <p:nvPr/>
        </p:nvSpPr>
        <p:spPr>
          <a:xfrm>
            <a:off x="484560" y="651960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0" u="none" strike="noStrike">
                <a:solidFill>
                  <a:srgbClr val="657389"/>
                </a:solidFill>
                <a:effectLst/>
                <a:uFillTx/>
                <a:latin typeface="Inter"/>
                <a:ea typeface="Inter"/>
              </a:rPr>
              <a:t>REDES 2 · EDIN SANTIZO · 202202072</a:t>
            </a:r>
            <a:endParaRPr lang="en-US" sz="900" b="0" u="none" strike="noStrike">
              <a:solidFill>
                <a:srgbClr val="000000"/>
              </a:solidFill>
              <a:effectLst/>
              <a:uFillTx/>
              <a:latin typeface="Arial"/>
            </a:endParaRPr>
          </a:p>
        </p:txBody>
      </p:sp>
      <p:sp>
        <p:nvSpPr>
          <p:cNvPr id="166" name="Text 5"/>
          <p:cNvSpPr/>
          <p:nvPr/>
        </p:nvSpPr>
        <p:spPr>
          <a:xfrm>
            <a:off x="11064240" y="649224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900" b="0" u="none" strike="noStrike">
                <a:solidFill>
                  <a:srgbClr val="657389"/>
                </a:solidFill>
                <a:effectLst/>
                <a:uFillTx/>
                <a:latin typeface="Inter"/>
                <a:ea typeface="Inter"/>
              </a:rPr>
              <a:t>07</a:t>
            </a:r>
            <a:endParaRPr lang="en-US" sz="900" b="0" u="none" strike="noStrike">
              <a:solidFill>
                <a:srgbClr val="000000"/>
              </a:solidFill>
              <a:effectLst/>
              <a:uFillTx/>
              <a:latin typeface="Arial"/>
            </a:endParaRPr>
          </a:p>
        </p:txBody>
      </p:sp>
      <p:sp>
        <p:nvSpPr>
          <p:cNvPr id="167" name="Shape 6"/>
          <p:cNvSpPr/>
          <p:nvPr/>
        </p:nvSpPr>
        <p:spPr>
          <a:xfrm>
            <a:off x="822960" y="2075760"/>
            <a:ext cx="10423800" cy="557280"/>
          </a:xfrm>
          <a:prstGeom prst="roundRect">
            <a:avLst>
              <a:gd name="adj" fmla="val 32787"/>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8" name="Shape 7"/>
          <p:cNvSpPr/>
          <p:nvPr/>
        </p:nvSpPr>
        <p:spPr>
          <a:xfrm>
            <a:off x="1024200" y="2221920"/>
            <a:ext cx="264960" cy="264960"/>
          </a:xfrm>
          <a:prstGeom prst="ellipse">
            <a:avLst/>
          </a:prstGeom>
          <a:solidFill>
            <a:srgbClr val="15A79A"/>
          </a:solidFill>
          <a:ln w="12700">
            <a:solidFill>
              <a:srgbClr val="15A79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9" name="Text 8"/>
          <p:cNvSpPr/>
          <p:nvPr/>
        </p:nvSpPr>
        <p:spPr>
          <a:xfrm>
            <a:off x="1024200" y="2221920"/>
            <a:ext cx="2649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700" b="1" u="none" strike="noStrike">
                <a:solidFill>
                  <a:srgbClr val="FFFFFF"/>
                </a:solidFill>
                <a:effectLst/>
                <a:uFillTx/>
                <a:latin typeface="Inter"/>
                <a:ea typeface="Inter"/>
              </a:rPr>
              <a:t>✓</a:t>
            </a:r>
            <a:endParaRPr lang="en-US" sz="1700" b="0" u="none" strike="noStrike">
              <a:solidFill>
                <a:srgbClr val="000000"/>
              </a:solidFill>
              <a:effectLst/>
              <a:uFillTx/>
              <a:latin typeface="Arial"/>
            </a:endParaRPr>
          </a:p>
        </p:txBody>
      </p:sp>
      <p:sp>
        <p:nvSpPr>
          <p:cNvPr id="170" name="Text 9"/>
          <p:cNvSpPr/>
          <p:nvPr/>
        </p:nvSpPr>
        <p:spPr>
          <a:xfrm>
            <a:off x="1517760" y="2176200"/>
            <a:ext cx="701316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12243D"/>
                </a:solidFill>
                <a:effectLst/>
                <a:uFillTx/>
                <a:latin typeface="Inter"/>
                <a:ea typeface="Inter"/>
              </a:rPr>
              <a:t>Atención  →  Ventas</a:t>
            </a:r>
            <a:endParaRPr lang="en-US" sz="1800" b="0" u="none" strike="noStrike">
              <a:solidFill>
                <a:srgbClr val="000000"/>
              </a:solidFill>
              <a:effectLst/>
              <a:uFillTx/>
              <a:latin typeface="Arial"/>
            </a:endParaRPr>
          </a:p>
        </p:txBody>
      </p:sp>
      <p:sp>
        <p:nvSpPr>
          <p:cNvPr id="171" name="Shape 10"/>
          <p:cNvSpPr/>
          <p:nvPr/>
        </p:nvSpPr>
        <p:spPr>
          <a:xfrm>
            <a:off x="9153000" y="2185560"/>
            <a:ext cx="1810080" cy="310680"/>
          </a:xfrm>
          <a:prstGeom prst="roundRect">
            <a:avLst>
              <a:gd name="adj" fmla="val 29412"/>
            </a:avLst>
          </a:prstGeom>
          <a:solidFill>
            <a:srgbClr val="DBF5EF"/>
          </a:solidFill>
          <a:ln w="12700">
            <a:solidFill>
              <a:srgbClr val="DBF5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2" name="Text 11"/>
          <p:cNvSpPr/>
          <p:nvPr/>
        </p:nvSpPr>
        <p:spPr>
          <a:xfrm>
            <a:off x="9262800" y="2235600"/>
            <a:ext cx="15908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1" u="none" strike="noStrike">
                <a:solidFill>
                  <a:srgbClr val="15A79A"/>
                </a:solidFill>
                <a:effectLst/>
                <a:uFillTx/>
                <a:latin typeface="Inter"/>
                <a:ea typeface="Inter"/>
              </a:rPr>
              <a:t>PERMITIDO</a:t>
            </a:r>
            <a:endParaRPr lang="en-US" sz="1150" b="0" u="none" strike="noStrike">
              <a:solidFill>
                <a:srgbClr val="000000"/>
              </a:solidFill>
              <a:effectLst/>
              <a:uFillTx/>
              <a:latin typeface="Arial"/>
            </a:endParaRPr>
          </a:p>
        </p:txBody>
      </p:sp>
      <p:sp>
        <p:nvSpPr>
          <p:cNvPr id="173" name="Shape 12"/>
          <p:cNvSpPr/>
          <p:nvPr/>
        </p:nvSpPr>
        <p:spPr>
          <a:xfrm>
            <a:off x="822960" y="2770560"/>
            <a:ext cx="10423800" cy="557280"/>
          </a:xfrm>
          <a:prstGeom prst="roundRect">
            <a:avLst>
              <a:gd name="adj" fmla="val 32787"/>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4" name="Shape 13"/>
          <p:cNvSpPr/>
          <p:nvPr/>
        </p:nvSpPr>
        <p:spPr>
          <a:xfrm>
            <a:off x="1024200" y="2917080"/>
            <a:ext cx="264960" cy="264960"/>
          </a:xfrm>
          <a:prstGeom prst="ellipse">
            <a:avLst/>
          </a:prstGeom>
          <a:solidFill>
            <a:srgbClr val="15A79A"/>
          </a:solidFill>
          <a:ln w="12700">
            <a:solidFill>
              <a:srgbClr val="15A79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5" name="Text 14"/>
          <p:cNvSpPr/>
          <p:nvPr/>
        </p:nvSpPr>
        <p:spPr>
          <a:xfrm>
            <a:off x="1024200" y="2917080"/>
            <a:ext cx="2649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700" b="1" u="none" strike="noStrike">
                <a:solidFill>
                  <a:srgbClr val="FFFFFF"/>
                </a:solidFill>
                <a:effectLst/>
                <a:uFillTx/>
                <a:latin typeface="Inter"/>
                <a:ea typeface="Inter"/>
              </a:rPr>
              <a:t>✓</a:t>
            </a:r>
            <a:endParaRPr lang="en-US" sz="1700" b="0" u="none" strike="noStrike">
              <a:solidFill>
                <a:srgbClr val="000000"/>
              </a:solidFill>
              <a:effectLst/>
              <a:uFillTx/>
              <a:latin typeface="Arial"/>
            </a:endParaRPr>
          </a:p>
        </p:txBody>
      </p:sp>
      <p:sp>
        <p:nvSpPr>
          <p:cNvPr id="176" name="Text 15"/>
          <p:cNvSpPr/>
          <p:nvPr/>
        </p:nvSpPr>
        <p:spPr>
          <a:xfrm>
            <a:off x="1517760" y="2871360"/>
            <a:ext cx="701316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12243D"/>
                </a:solidFill>
                <a:effectLst/>
                <a:uFillTx/>
                <a:latin typeface="Inter"/>
                <a:ea typeface="Inter"/>
              </a:rPr>
              <a:t>Ventas  →  Facturación</a:t>
            </a:r>
            <a:endParaRPr lang="en-US" sz="1800" b="0" u="none" strike="noStrike">
              <a:solidFill>
                <a:srgbClr val="000000"/>
              </a:solidFill>
              <a:effectLst/>
              <a:uFillTx/>
              <a:latin typeface="Arial"/>
            </a:endParaRPr>
          </a:p>
        </p:txBody>
      </p:sp>
      <p:sp>
        <p:nvSpPr>
          <p:cNvPr id="177" name="Shape 16"/>
          <p:cNvSpPr/>
          <p:nvPr/>
        </p:nvSpPr>
        <p:spPr>
          <a:xfrm>
            <a:off x="9153000" y="2880360"/>
            <a:ext cx="1810080" cy="310680"/>
          </a:xfrm>
          <a:prstGeom prst="roundRect">
            <a:avLst>
              <a:gd name="adj" fmla="val 29412"/>
            </a:avLst>
          </a:prstGeom>
          <a:solidFill>
            <a:srgbClr val="DBF5EF"/>
          </a:solidFill>
          <a:ln w="12700">
            <a:solidFill>
              <a:srgbClr val="DBF5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8" name="Text 17"/>
          <p:cNvSpPr/>
          <p:nvPr/>
        </p:nvSpPr>
        <p:spPr>
          <a:xfrm>
            <a:off x="9262800" y="2930760"/>
            <a:ext cx="15908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1" u="none" strike="noStrike">
                <a:solidFill>
                  <a:srgbClr val="15A79A"/>
                </a:solidFill>
                <a:effectLst/>
                <a:uFillTx/>
                <a:latin typeface="Inter"/>
                <a:ea typeface="Inter"/>
              </a:rPr>
              <a:t>PERMITIDO</a:t>
            </a:r>
            <a:endParaRPr lang="en-US" sz="1150" b="0" u="none" strike="noStrike">
              <a:solidFill>
                <a:srgbClr val="000000"/>
              </a:solidFill>
              <a:effectLst/>
              <a:uFillTx/>
              <a:latin typeface="Arial"/>
            </a:endParaRPr>
          </a:p>
        </p:txBody>
      </p:sp>
      <p:sp>
        <p:nvSpPr>
          <p:cNvPr id="179" name="Shape 18"/>
          <p:cNvSpPr/>
          <p:nvPr/>
        </p:nvSpPr>
        <p:spPr>
          <a:xfrm>
            <a:off x="822960" y="3465720"/>
            <a:ext cx="10423800" cy="557280"/>
          </a:xfrm>
          <a:prstGeom prst="roundRect">
            <a:avLst>
              <a:gd name="adj" fmla="val 32787"/>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0" name="Shape 19"/>
          <p:cNvSpPr/>
          <p:nvPr/>
        </p:nvSpPr>
        <p:spPr>
          <a:xfrm>
            <a:off x="1024200" y="3611880"/>
            <a:ext cx="264960" cy="264960"/>
          </a:xfrm>
          <a:prstGeom prst="ellipse">
            <a:avLst/>
          </a:prstGeom>
          <a:solidFill>
            <a:srgbClr val="D75159"/>
          </a:solidFill>
          <a:ln w="12700">
            <a:solidFill>
              <a:srgbClr val="D75159">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1" name="Text 20"/>
          <p:cNvSpPr/>
          <p:nvPr/>
        </p:nvSpPr>
        <p:spPr>
          <a:xfrm>
            <a:off x="1024200" y="3611880"/>
            <a:ext cx="2649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700" b="1" u="none" strike="noStrike">
                <a:solidFill>
                  <a:srgbClr val="FFFFFF"/>
                </a:solidFill>
                <a:effectLst/>
                <a:uFillTx/>
                <a:latin typeface="Inter"/>
                <a:ea typeface="Inter"/>
              </a:rPr>
              <a:t>×</a:t>
            </a:r>
            <a:endParaRPr lang="en-US" sz="1700" b="0" u="none" strike="noStrike">
              <a:solidFill>
                <a:srgbClr val="000000"/>
              </a:solidFill>
              <a:effectLst/>
              <a:uFillTx/>
              <a:latin typeface="Arial"/>
            </a:endParaRPr>
          </a:p>
        </p:txBody>
      </p:sp>
      <p:sp>
        <p:nvSpPr>
          <p:cNvPr id="182" name="Text 21"/>
          <p:cNvSpPr/>
          <p:nvPr/>
        </p:nvSpPr>
        <p:spPr>
          <a:xfrm>
            <a:off x="1517760" y="3566160"/>
            <a:ext cx="701316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0" u="none" strike="noStrike">
                <a:solidFill>
                  <a:srgbClr val="12243D"/>
                </a:solidFill>
                <a:effectLst/>
                <a:uFillTx/>
                <a:latin typeface="Inter"/>
                <a:ea typeface="Inter"/>
              </a:rPr>
              <a:t>Atención  →  Facturación</a:t>
            </a:r>
            <a:endParaRPr lang="en-US" sz="1800" b="0" u="none" strike="noStrike">
              <a:solidFill>
                <a:srgbClr val="000000"/>
              </a:solidFill>
              <a:effectLst/>
              <a:uFillTx/>
              <a:latin typeface="Arial"/>
            </a:endParaRPr>
          </a:p>
        </p:txBody>
      </p:sp>
      <p:sp>
        <p:nvSpPr>
          <p:cNvPr id="183" name="Shape 22"/>
          <p:cNvSpPr/>
          <p:nvPr/>
        </p:nvSpPr>
        <p:spPr>
          <a:xfrm>
            <a:off x="9153000" y="3575160"/>
            <a:ext cx="1810080" cy="310680"/>
          </a:xfrm>
          <a:prstGeom prst="roundRect">
            <a:avLst>
              <a:gd name="adj" fmla="val 29412"/>
            </a:avLst>
          </a:prstGeom>
          <a:solidFill>
            <a:srgbClr val="FDECEF"/>
          </a:solidFill>
          <a:ln w="12700">
            <a:solidFill>
              <a:srgbClr val="FDEC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4" name="Text 23"/>
          <p:cNvSpPr/>
          <p:nvPr/>
        </p:nvSpPr>
        <p:spPr>
          <a:xfrm>
            <a:off x="9262800" y="3625560"/>
            <a:ext cx="15908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1" u="none" strike="noStrike">
                <a:solidFill>
                  <a:srgbClr val="D75159"/>
                </a:solidFill>
                <a:effectLst/>
                <a:uFillTx/>
                <a:latin typeface="Inter"/>
                <a:ea typeface="Inter"/>
              </a:rPr>
              <a:t>BLOQUEADO</a:t>
            </a:r>
            <a:endParaRPr lang="en-US" sz="1150" b="0" u="none" strike="noStrike">
              <a:solidFill>
                <a:srgbClr val="000000"/>
              </a:solidFill>
              <a:effectLst/>
              <a:uFillTx/>
              <a:latin typeface="Arial"/>
            </a:endParaRPr>
          </a:p>
        </p:txBody>
      </p:sp>
      <p:sp>
        <p:nvSpPr>
          <p:cNvPr id="185" name="Shape 24"/>
          <p:cNvSpPr/>
          <p:nvPr/>
        </p:nvSpPr>
        <p:spPr>
          <a:xfrm>
            <a:off x="822960" y="4160520"/>
            <a:ext cx="10423800" cy="557280"/>
          </a:xfrm>
          <a:prstGeom prst="roundRect">
            <a:avLst>
              <a:gd name="adj" fmla="val 32787"/>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6" name="Shape 25"/>
          <p:cNvSpPr/>
          <p:nvPr/>
        </p:nvSpPr>
        <p:spPr>
          <a:xfrm>
            <a:off x="1024200" y="4306680"/>
            <a:ext cx="264960" cy="264960"/>
          </a:xfrm>
          <a:prstGeom prst="ellipse">
            <a:avLst/>
          </a:prstGeom>
          <a:solidFill>
            <a:srgbClr val="D75159"/>
          </a:solidFill>
          <a:ln w="12700">
            <a:solidFill>
              <a:srgbClr val="D75159">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7" name="Text 26"/>
          <p:cNvSpPr/>
          <p:nvPr/>
        </p:nvSpPr>
        <p:spPr>
          <a:xfrm>
            <a:off x="1024200" y="4306680"/>
            <a:ext cx="2649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700" b="1" u="none" strike="noStrike">
                <a:solidFill>
                  <a:srgbClr val="FFFFFF"/>
                </a:solidFill>
                <a:effectLst/>
                <a:uFillTx/>
                <a:latin typeface="Inter"/>
                <a:ea typeface="Inter"/>
              </a:rPr>
              <a:t>×</a:t>
            </a:r>
            <a:endParaRPr lang="en-US" sz="1700" b="0" u="none" strike="noStrike">
              <a:solidFill>
                <a:srgbClr val="000000"/>
              </a:solidFill>
              <a:effectLst/>
              <a:uFillTx/>
              <a:latin typeface="Arial"/>
            </a:endParaRPr>
          </a:p>
        </p:txBody>
      </p:sp>
      <p:sp>
        <p:nvSpPr>
          <p:cNvPr id="188" name="Text 27"/>
          <p:cNvSpPr/>
          <p:nvPr/>
        </p:nvSpPr>
        <p:spPr>
          <a:xfrm>
            <a:off x="1517760" y="4260960"/>
            <a:ext cx="701316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0" u="none" strike="noStrike">
                <a:solidFill>
                  <a:srgbClr val="12243D"/>
                </a:solidFill>
                <a:effectLst/>
                <a:uFillTx/>
                <a:latin typeface="Inter"/>
                <a:ea typeface="Inter"/>
              </a:rPr>
              <a:t>Ventas  →  Seguridad</a:t>
            </a:r>
            <a:endParaRPr lang="en-US" sz="1800" b="0" u="none" strike="noStrike">
              <a:solidFill>
                <a:srgbClr val="000000"/>
              </a:solidFill>
              <a:effectLst/>
              <a:uFillTx/>
              <a:latin typeface="Arial"/>
            </a:endParaRPr>
          </a:p>
        </p:txBody>
      </p:sp>
      <p:sp>
        <p:nvSpPr>
          <p:cNvPr id="189" name="Shape 28"/>
          <p:cNvSpPr/>
          <p:nvPr/>
        </p:nvSpPr>
        <p:spPr>
          <a:xfrm>
            <a:off x="9153000" y="4270320"/>
            <a:ext cx="1810080" cy="310680"/>
          </a:xfrm>
          <a:prstGeom prst="roundRect">
            <a:avLst>
              <a:gd name="adj" fmla="val 29412"/>
            </a:avLst>
          </a:prstGeom>
          <a:solidFill>
            <a:srgbClr val="FDECEF"/>
          </a:solidFill>
          <a:ln w="12700">
            <a:solidFill>
              <a:srgbClr val="FDEC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0" name="Text 29"/>
          <p:cNvSpPr/>
          <p:nvPr/>
        </p:nvSpPr>
        <p:spPr>
          <a:xfrm>
            <a:off x="9262800" y="4320720"/>
            <a:ext cx="15908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1" u="none" strike="noStrike">
                <a:solidFill>
                  <a:srgbClr val="D75159"/>
                </a:solidFill>
                <a:effectLst/>
                <a:uFillTx/>
                <a:latin typeface="Inter"/>
                <a:ea typeface="Inter"/>
              </a:rPr>
              <a:t>BLOQUEADO</a:t>
            </a:r>
            <a:endParaRPr lang="en-US" sz="1150" b="0" u="none" strike="noStrike">
              <a:solidFill>
                <a:srgbClr val="000000"/>
              </a:solidFill>
              <a:effectLst/>
              <a:uFillTx/>
              <a:latin typeface="Arial"/>
            </a:endParaRPr>
          </a:p>
        </p:txBody>
      </p:sp>
      <p:sp>
        <p:nvSpPr>
          <p:cNvPr id="191" name="Shape 30"/>
          <p:cNvSpPr/>
          <p:nvPr/>
        </p:nvSpPr>
        <p:spPr>
          <a:xfrm>
            <a:off x="822960" y="4855320"/>
            <a:ext cx="10423800" cy="557280"/>
          </a:xfrm>
          <a:prstGeom prst="roundRect">
            <a:avLst>
              <a:gd name="adj" fmla="val 32787"/>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2" name="Shape 31"/>
          <p:cNvSpPr/>
          <p:nvPr/>
        </p:nvSpPr>
        <p:spPr>
          <a:xfrm>
            <a:off x="1024200" y="5001840"/>
            <a:ext cx="264960" cy="264960"/>
          </a:xfrm>
          <a:prstGeom prst="ellipse">
            <a:avLst/>
          </a:prstGeom>
          <a:solidFill>
            <a:srgbClr val="15A79A"/>
          </a:solidFill>
          <a:ln w="12700">
            <a:solidFill>
              <a:srgbClr val="15A79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3" name="Text 32"/>
          <p:cNvSpPr/>
          <p:nvPr/>
        </p:nvSpPr>
        <p:spPr>
          <a:xfrm>
            <a:off x="1024200" y="5001840"/>
            <a:ext cx="2649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700" b="1" u="none" strike="noStrike">
                <a:solidFill>
                  <a:srgbClr val="FFFFFF"/>
                </a:solidFill>
                <a:effectLst/>
                <a:uFillTx/>
                <a:latin typeface="Inter"/>
                <a:ea typeface="Inter"/>
              </a:rPr>
              <a:t>✓</a:t>
            </a:r>
            <a:endParaRPr lang="en-US" sz="1700" b="0" u="none" strike="noStrike">
              <a:solidFill>
                <a:srgbClr val="000000"/>
              </a:solidFill>
              <a:effectLst/>
              <a:uFillTx/>
              <a:latin typeface="Arial"/>
            </a:endParaRPr>
          </a:p>
        </p:txBody>
      </p:sp>
      <p:sp>
        <p:nvSpPr>
          <p:cNvPr id="194" name="Text 33"/>
          <p:cNvSpPr/>
          <p:nvPr/>
        </p:nvSpPr>
        <p:spPr>
          <a:xfrm>
            <a:off x="1517760" y="4956120"/>
            <a:ext cx="701316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0" u="none" strike="noStrike">
                <a:solidFill>
                  <a:srgbClr val="12243D"/>
                </a:solidFill>
                <a:effectLst/>
                <a:uFillTx/>
                <a:latin typeface="Inter"/>
                <a:ea typeface="Inter"/>
              </a:rPr>
              <a:t>Seguridad  →  Ventas</a:t>
            </a:r>
            <a:endParaRPr lang="en-US" sz="1800" b="0" u="none" strike="noStrike">
              <a:solidFill>
                <a:srgbClr val="000000"/>
              </a:solidFill>
              <a:effectLst/>
              <a:uFillTx/>
              <a:latin typeface="Arial"/>
            </a:endParaRPr>
          </a:p>
        </p:txBody>
      </p:sp>
      <p:sp>
        <p:nvSpPr>
          <p:cNvPr id="195" name="Shape 34"/>
          <p:cNvSpPr/>
          <p:nvPr/>
        </p:nvSpPr>
        <p:spPr>
          <a:xfrm>
            <a:off x="9153000" y="4965120"/>
            <a:ext cx="1810080" cy="310680"/>
          </a:xfrm>
          <a:prstGeom prst="roundRect">
            <a:avLst>
              <a:gd name="adj" fmla="val 29412"/>
            </a:avLst>
          </a:prstGeom>
          <a:solidFill>
            <a:srgbClr val="DBF5EF"/>
          </a:solidFill>
          <a:ln w="12700">
            <a:solidFill>
              <a:srgbClr val="DBF5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6" name="Text 35"/>
          <p:cNvSpPr/>
          <p:nvPr/>
        </p:nvSpPr>
        <p:spPr>
          <a:xfrm>
            <a:off x="9262800" y="5015520"/>
            <a:ext cx="15908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1" u="none" strike="noStrike">
                <a:solidFill>
                  <a:srgbClr val="15A79A"/>
                </a:solidFill>
                <a:effectLst/>
                <a:uFillTx/>
                <a:latin typeface="Inter"/>
                <a:ea typeface="Inter"/>
              </a:rPr>
              <a:t>PERMITIDO</a:t>
            </a:r>
            <a:endParaRPr lang="en-US" sz="1150" b="0" u="none" strike="noStrike">
              <a:solidFill>
                <a:srgbClr val="000000"/>
              </a:solidFill>
              <a:effectLst/>
              <a:uFillTx/>
              <a:latin typeface="Arial"/>
            </a:endParaRPr>
          </a:p>
        </p:txBody>
      </p:sp>
      <p:sp>
        <p:nvSpPr>
          <p:cNvPr id="197" name="Text 36"/>
          <p:cNvSpPr/>
          <p:nvPr/>
        </p:nvSpPr>
        <p:spPr>
          <a:xfrm>
            <a:off x="1005840" y="5952600"/>
            <a:ext cx="10103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50" b="0" u="none" strike="noStrike">
                <a:solidFill>
                  <a:srgbClr val="657389"/>
                </a:solidFill>
                <a:effectLst/>
                <a:uFillTx/>
                <a:latin typeface="Inter"/>
                <a:ea typeface="Inter"/>
              </a:rPr>
              <a:t>Estas reglas se comprobaron con mensajes de prueba (ICMP).</a:t>
            </a:r>
            <a:endParaRPr lang="en-US" sz="145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98" name="Shape 0"/>
          <p:cNvSpPr/>
          <p:nvPr/>
        </p:nvSpPr>
        <p:spPr>
          <a:xfrm>
            <a:off x="502920" y="311040"/>
            <a:ext cx="2057040" cy="310680"/>
          </a:xfrm>
          <a:prstGeom prst="roundRect">
            <a:avLst>
              <a:gd name="adj" fmla="val 29412"/>
            </a:avLst>
          </a:prstGeom>
          <a:solidFill>
            <a:srgbClr val="DBF5EF"/>
          </a:solidFill>
          <a:ln w="12700">
            <a:solidFill>
              <a:srgbClr val="DBF5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9" name="Text 1"/>
          <p:cNvSpPr/>
          <p:nvPr/>
        </p:nvSpPr>
        <p:spPr>
          <a:xfrm>
            <a:off x="612720" y="361080"/>
            <a:ext cx="18374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00" b="1" u="none" strike="noStrike">
                <a:solidFill>
                  <a:srgbClr val="15A79A"/>
                </a:solidFill>
                <a:effectLst/>
                <a:uFillTx/>
                <a:latin typeface="Inter"/>
                <a:ea typeface="Inter"/>
              </a:rPr>
              <a:t>PRUEBAS</a:t>
            </a:r>
            <a:endParaRPr lang="en-US" sz="1000" b="0" u="none" strike="noStrike">
              <a:solidFill>
                <a:srgbClr val="000000"/>
              </a:solidFill>
              <a:effectLst/>
              <a:uFillTx/>
              <a:latin typeface="Arial"/>
            </a:endParaRPr>
          </a:p>
        </p:txBody>
      </p:sp>
      <p:sp>
        <p:nvSpPr>
          <p:cNvPr id="200" name="Text 2"/>
          <p:cNvSpPr/>
          <p:nvPr/>
        </p:nvSpPr>
        <p:spPr>
          <a:xfrm>
            <a:off x="502920" y="877680"/>
            <a:ext cx="10972440" cy="648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2243D"/>
                </a:solidFill>
                <a:effectLst/>
                <a:uFillTx/>
                <a:latin typeface="Inter"/>
                <a:ea typeface="Inter"/>
              </a:rPr>
              <a:t>¿Cómo sabemos que la propuesta funciona?</a:t>
            </a:r>
            <a:endParaRPr lang="en-US" sz="3400" b="0" u="none" strike="noStrike">
              <a:solidFill>
                <a:srgbClr val="000000"/>
              </a:solidFill>
              <a:effectLst/>
              <a:uFillTx/>
              <a:latin typeface="Arial"/>
            </a:endParaRPr>
          </a:p>
        </p:txBody>
      </p:sp>
      <p:sp>
        <p:nvSpPr>
          <p:cNvPr id="201" name="Text 3"/>
          <p:cNvSpPr/>
          <p:nvPr/>
        </p:nvSpPr>
        <p:spPr>
          <a:xfrm>
            <a:off x="511920" y="1591200"/>
            <a:ext cx="10789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40" b="0" u="none" strike="noStrike">
                <a:solidFill>
                  <a:srgbClr val="657389"/>
                </a:solidFill>
                <a:effectLst/>
                <a:uFillTx/>
                <a:latin typeface="Inter"/>
                <a:ea typeface="Inter"/>
              </a:rPr>
              <a:t>No nos quedamos solo en la teoría: hicimos pruebas en Packet Tracer y Wireshark.</a:t>
            </a:r>
            <a:endParaRPr lang="en-US" sz="1540" b="0" u="none" strike="noStrike">
              <a:solidFill>
                <a:srgbClr val="000000"/>
              </a:solidFill>
              <a:effectLst/>
              <a:uFillTx/>
              <a:latin typeface="Arial"/>
            </a:endParaRPr>
          </a:p>
        </p:txBody>
      </p:sp>
      <p:sp>
        <p:nvSpPr>
          <p:cNvPr id="202" name="Text 4"/>
          <p:cNvSpPr/>
          <p:nvPr/>
        </p:nvSpPr>
        <p:spPr>
          <a:xfrm>
            <a:off x="484560" y="651960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0" u="none" strike="noStrike">
                <a:solidFill>
                  <a:srgbClr val="657389"/>
                </a:solidFill>
                <a:effectLst/>
                <a:uFillTx/>
                <a:latin typeface="Inter"/>
                <a:ea typeface="Inter"/>
              </a:rPr>
              <a:t>REDES 2 · EDIN SANTIZO · 202202072</a:t>
            </a:r>
            <a:endParaRPr lang="en-US" sz="900" b="0" u="none" strike="noStrike">
              <a:solidFill>
                <a:srgbClr val="000000"/>
              </a:solidFill>
              <a:effectLst/>
              <a:uFillTx/>
              <a:latin typeface="Arial"/>
            </a:endParaRPr>
          </a:p>
        </p:txBody>
      </p:sp>
      <p:sp>
        <p:nvSpPr>
          <p:cNvPr id="203" name="Text 5"/>
          <p:cNvSpPr/>
          <p:nvPr/>
        </p:nvSpPr>
        <p:spPr>
          <a:xfrm>
            <a:off x="11064240" y="649224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900" b="0" u="none" strike="noStrike">
                <a:solidFill>
                  <a:srgbClr val="657389"/>
                </a:solidFill>
                <a:effectLst/>
                <a:uFillTx/>
                <a:latin typeface="Inter"/>
                <a:ea typeface="Inter"/>
              </a:rPr>
              <a:t>08</a:t>
            </a:r>
            <a:endParaRPr lang="en-US" sz="900" b="0" u="none" strike="noStrike">
              <a:solidFill>
                <a:srgbClr val="000000"/>
              </a:solidFill>
              <a:effectLst/>
              <a:uFillTx/>
              <a:latin typeface="Arial"/>
            </a:endParaRPr>
          </a:p>
        </p:txBody>
      </p:sp>
      <p:sp>
        <p:nvSpPr>
          <p:cNvPr id="204" name="Shape 6"/>
          <p:cNvSpPr/>
          <p:nvPr/>
        </p:nvSpPr>
        <p:spPr>
          <a:xfrm>
            <a:off x="749880" y="2231280"/>
            <a:ext cx="3511080" cy="2102760"/>
          </a:xfrm>
          <a:prstGeom prst="roundRect">
            <a:avLst>
              <a:gd name="adj" fmla="val 7826"/>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5" name="Text 7"/>
          <p:cNvSpPr/>
          <p:nvPr/>
        </p:nvSpPr>
        <p:spPr>
          <a:xfrm>
            <a:off x="996840" y="2468880"/>
            <a:ext cx="3062880" cy="74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4300" b="1" u="none" strike="noStrike">
                <a:solidFill>
                  <a:srgbClr val="15A79A"/>
                </a:solidFill>
                <a:effectLst/>
                <a:uFillTx/>
                <a:latin typeface="Inter"/>
                <a:ea typeface="Inter"/>
              </a:rPr>
              <a:t>13 / 13</a:t>
            </a:r>
            <a:endParaRPr lang="en-US" sz="4300" b="0" u="none" strike="noStrike">
              <a:solidFill>
                <a:srgbClr val="000000"/>
              </a:solidFill>
              <a:effectLst/>
              <a:uFillTx/>
              <a:latin typeface="Arial"/>
            </a:endParaRPr>
          </a:p>
        </p:txBody>
      </p:sp>
      <p:sp>
        <p:nvSpPr>
          <p:cNvPr id="206" name="Text 8"/>
          <p:cNvSpPr/>
          <p:nvPr/>
        </p:nvSpPr>
        <p:spPr>
          <a:xfrm>
            <a:off x="1024200" y="3291840"/>
            <a:ext cx="2980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20" b="1" u="none" strike="noStrike">
                <a:solidFill>
                  <a:srgbClr val="12243D"/>
                </a:solidFill>
                <a:effectLst/>
                <a:uFillTx/>
                <a:latin typeface="Inter"/>
                <a:ea typeface="Inter"/>
              </a:rPr>
              <a:t>pruebas de comunicación</a:t>
            </a:r>
            <a:endParaRPr lang="en-US" sz="1620" b="0" u="none" strike="noStrike">
              <a:solidFill>
                <a:srgbClr val="000000"/>
              </a:solidFill>
              <a:effectLst/>
              <a:uFillTx/>
              <a:latin typeface="Arial"/>
            </a:endParaRPr>
          </a:p>
        </p:txBody>
      </p:sp>
      <p:sp>
        <p:nvSpPr>
          <p:cNvPr id="207" name="Text 9"/>
          <p:cNvSpPr/>
          <p:nvPr/>
        </p:nvSpPr>
        <p:spPr>
          <a:xfrm>
            <a:off x="978480" y="3694320"/>
            <a:ext cx="3044520" cy="4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50" b="0" u="none" strike="noStrike">
                <a:solidFill>
                  <a:srgbClr val="657389"/>
                </a:solidFill>
                <a:effectLst/>
                <a:uFillTx/>
                <a:latin typeface="Inter"/>
                <a:ea typeface="Inter"/>
              </a:rPr>
              <a:t>Pasaron o se bloquearon como correspondía</a:t>
            </a:r>
            <a:endParaRPr lang="en-US" sz="1250" b="0" u="none" strike="noStrike">
              <a:solidFill>
                <a:srgbClr val="000000"/>
              </a:solidFill>
              <a:effectLst/>
              <a:uFillTx/>
              <a:latin typeface="Arial"/>
            </a:endParaRPr>
          </a:p>
        </p:txBody>
      </p:sp>
      <p:sp>
        <p:nvSpPr>
          <p:cNvPr id="208" name="Shape 10"/>
          <p:cNvSpPr/>
          <p:nvPr/>
        </p:nvSpPr>
        <p:spPr>
          <a:xfrm>
            <a:off x="4617720" y="2231280"/>
            <a:ext cx="3511080" cy="2102760"/>
          </a:xfrm>
          <a:prstGeom prst="roundRect">
            <a:avLst>
              <a:gd name="adj" fmla="val 7826"/>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9" name="Text 11"/>
          <p:cNvSpPr/>
          <p:nvPr/>
        </p:nvSpPr>
        <p:spPr>
          <a:xfrm>
            <a:off x="4864680" y="2468880"/>
            <a:ext cx="3062880" cy="74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4300" b="1" u="none" strike="noStrike">
                <a:solidFill>
                  <a:srgbClr val="4B7BEE"/>
                </a:solidFill>
                <a:effectLst/>
                <a:uFillTx/>
                <a:latin typeface="Inter"/>
                <a:ea typeface="Inter"/>
              </a:rPr>
              <a:t>7 / 7</a:t>
            </a:r>
            <a:endParaRPr lang="en-US" sz="4300" b="0" u="none" strike="noStrike">
              <a:solidFill>
                <a:srgbClr val="000000"/>
              </a:solidFill>
              <a:effectLst/>
              <a:uFillTx/>
              <a:latin typeface="Arial"/>
            </a:endParaRPr>
          </a:p>
        </p:txBody>
      </p:sp>
      <p:sp>
        <p:nvSpPr>
          <p:cNvPr id="210" name="Text 12"/>
          <p:cNvSpPr/>
          <p:nvPr/>
        </p:nvSpPr>
        <p:spPr>
          <a:xfrm>
            <a:off x="4892040" y="3291840"/>
            <a:ext cx="2980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20" b="1" u="none" strike="noStrike">
                <a:solidFill>
                  <a:srgbClr val="12243D"/>
                </a:solidFill>
                <a:effectLst/>
                <a:uFillTx/>
                <a:latin typeface="Inter"/>
                <a:ea typeface="Inter"/>
              </a:rPr>
              <a:t>revisiones al reabrir</a:t>
            </a:r>
            <a:endParaRPr lang="en-US" sz="1620" b="0" u="none" strike="noStrike">
              <a:solidFill>
                <a:srgbClr val="000000"/>
              </a:solidFill>
              <a:effectLst/>
              <a:uFillTx/>
              <a:latin typeface="Arial"/>
            </a:endParaRPr>
          </a:p>
        </p:txBody>
      </p:sp>
      <p:sp>
        <p:nvSpPr>
          <p:cNvPr id="211" name="Text 13"/>
          <p:cNvSpPr/>
          <p:nvPr/>
        </p:nvSpPr>
        <p:spPr>
          <a:xfrm>
            <a:off x="4846320" y="3694320"/>
            <a:ext cx="3044520" cy="4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50" b="0" u="none" strike="noStrike">
                <a:solidFill>
                  <a:srgbClr val="657389"/>
                </a:solidFill>
                <a:effectLst/>
                <a:uFillTx/>
                <a:latin typeface="Inter"/>
                <a:ea typeface="Inter"/>
              </a:rPr>
              <a:t>La red conservó su funcionamiento</a:t>
            </a:r>
            <a:endParaRPr lang="en-US" sz="1250" b="0" u="none" strike="noStrike">
              <a:solidFill>
                <a:srgbClr val="000000"/>
              </a:solidFill>
              <a:effectLst/>
              <a:uFillTx/>
              <a:latin typeface="Arial"/>
            </a:endParaRPr>
          </a:p>
        </p:txBody>
      </p:sp>
      <p:sp>
        <p:nvSpPr>
          <p:cNvPr id="212" name="Shape 14"/>
          <p:cNvSpPr/>
          <p:nvPr/>
        </p:nvSpPr>
        <p:spPr>
          <a:xfrm>
            <a:off x="8485560" y="2231280"/>
            <a:ext cx="3511080" cy="2102760"/>
          </a:xfrm>
          <a:prstGeom prst="roundRect">
            <a:avLst>
              <a:gd name="adj" fmla="val 7826"/>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3" name="Text 15"/>
          <p:cNvSpPr/>
          <p:nvPr/>
        </p:nvSpPr>
        <p:spPr>
          <a:xfrm>
            <a:off x="8732520" y="2468880"/>
            <a:ext cx="3062880" cy="74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4300" b="1" u="none" strike="noStrike">
                <a:solidFill>
                  <a:srgbClr val="FFAA5B"/>
                </a:solidFill>
                <a:effectLst/>
                <a:uFillTx/>
                <a:latin typeface="Inter"/>
                <a:ea typeface="Inter"/>
              </a:rPr>
              <a:t>39</a:t>
            </a:r>
            <a:endParaRPr lang="en-US" sz="4300" b="0" u="none" strike="noStrike">
              <a:solidFill>
                <a:srgbClr val="000000"/>
              </a:solidFill>
              <a:effectLst/>
              <a:uFillTx/>
              <a:latin typeface="Arial"/>
            </a:endParaRPr>
          </a:p>
        </p:txBody>
      </p:sp>
      <p:sp>
        <p:nvSpPr>
          <p:cNvPr id="214" name="Text 16"/>
          <p:cNvSpPr/>
          <p:nvPr/>
        </p:nvSpPr>
        <p:spPr>
          <a:xfrm>
            <a:off x="8759880" y="3291840"/>
            <a:ext cx="2980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20" b="1" u="none" strike="noStrike">
                <a:solidFill>
                  <a:srgbClr val="12243D"/>
                </a:solidFill>
                <a:effectLst/>
                <a:uFillTx/>
                <a:latin typeface="Inter"/>
                <a:ea typeface="Inter"/>
              </a:rPr>
              <a:t>paquetes de tráfico real</a:t>
            </a:r>
            <a:endParaRPr lang="en-US" sz="1620" b="0" u="none" strike="noStrike">
              <a:solidFill>
                <a:srgbClr val="000000"/>
              </a:solidFill>
              <a:effectLst/>
              <a:uFillTx/>
              <a:latin typeface="Arial"/>
            </a:endParaRPr>
          </a:p>
        </p:txBody>
      </p:sp>
      <p:sp>
        <p:nvSpPr>
          <p:cNvPr id="215" name="Text 17"/>
          <p:cNvSpPr/>
          <p:nvPr/>
        </p:nvSpPr>
        <p:spPr>
          <a:xfrm>
            <a:off x="8714160" y="3694320"/>
            <a:ext cx="3044520" cy="4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50" b="0" u="none" strike="noStrike">
                <a:solidFill>
                  <a:srgbClr val="657389"/>
                </a:solidFill>
                <a:effectLst/>
                <a:uFillTx/>
                <a:latin typeface="Inter"/>
                <a:ea typeface="Inter"/>
              </a:rPr>
              <a:t>Capturados con Wireshark</a:t>
            </a:r>
            <a:endParaRPr lang="en-US" sz="1250" b="0" u="none" strike="noStrike">
              <a:solidFill>
                <a:srgbClr val="000000"/>
              </a:solidFill>
              <a:effectLst/>
              <a:uFillTx/>
              <a:latin typeface="Arial"/>
            </a:endParaRPr>
          </a:p>
        </p:txBody>
      </p:sp>
      <p:sp>
        <p:nvSpPr>
          <p:cNvPr id="216" name="Shape 18"/>
          <p:cNvSpPr/>
          <p:nvPr/>
        </p:nvSpPr>
        <p:spPr>
          <a:xfrm>
            <a:off x="749880" y="4636080"/>
            <a:ext cx="10725480" cy="849960"/>
          </a:xfrm>
          <a:prstGeom prst="roundRect">
            <a:avLst>
              <a:gd name="adj" fmla="val 21505"/>
            </a:avLst>
          </a:prstGeom>
          <a:solidFill>
            <a:srgbClr val="111F34"/>
          </a:solidFill>
          <a:ln w="12700">
            <a:solidFill>
              <a:srgbClr val="111F34">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7" name="Text 19"/>
          <p:cNvSpPr/>
          <p:nvPr/>
        </p:nvSpPr>
        <p:spPr>
          <a:xfrm>
            <a:off x="987480" y="4809600"/>
            <a:ext cx="1017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900" b="1" u="none" strike="noStrike">
                <a:solidFill>
                  <a:srgbClr val="FFFFFF"/>
                </a:solidFill>
                <a:effectLst/>
                <a:uFillTx/>
                <a:latin typeface="Inter"/>
                <a:ea typeface="Inter"/>
              </a:rPr>
              <a:t>También funcionaron DHCP, DNS y la web; comprobamos el cambio automático a HSRP.</a:t>
            </a:r>
            <a:endParaRPr lang="en-US" sz="1900" b="0" u="none" strike="noStrike">
              <a:solidFill>
                <a:srgbClr val="000000"/>
              </a:solidFill>
              <a:effectLst/>
              <a:uFillTx/>
              <a:latin typeface="Arial"/>
            </a:endParaRPr>
          </a:p>
        </p:txBody>
      </p:sp>
      <p:sp>
        <p:nvSpPr>
          <p:cNvPr id="218" name="Text 20"/>
          <p:cNvSpPr/>
          <p:nvPr/>
        </p:nvSpPr>
        <p:spPr>
          <a:xfrm>
            <a:off x="978480" y="5779080"/>
            <a:ext cx="1027764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00" b="0" u="none" strike="noStrike">
                <a:solidFill>
                  <a:srgbClr val="657389"/>
                </a:solidFill>
                <a:effectLst/>
                <a:uFillTx/>
                <a:latin typeface="Inter"/>
                <a:ea typeface="Inter"/>
              </a:rPr>
              <a:t>Algunas pruebas se registraron como resultados reportados; la captura Wireshark sí se analizó desde el archivo real.</a:t>
            </a:r>
            <a:endParaRPr lang="en-US" sz="11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19" name="Shape 0"/>
          <p:cNvSpPr/>
          <p:nvPr/>
        </p:nvSpPr>
        <p:spPr>
          <a:xfrm>
            <a:off x="502920" y="311040"/>
            <a:ext cx="2057040" cy="310680"/>
          </a:xfrm>
          <a:prstGeom prst="roundRect">
            <a:avLst>
              <a:gd name="adj" fmla="val 29412"/>
            </a:avLst>
          </a:prstGeom>
          <a:solidFill>
            <a:srgbClr val="DBF5EF"/>
          </a:solidFill>
          <a:ln w="12700">
            <a:solidFill>
              <a:srgbClr val="DBF5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0" name="Text 1"/>
          <p:cNvSpPr/>
          <p:nvPr/>
        </p:nvSpPr>
        <p:spPr>
          <a:xfrm>
            <a:off x="612720" y="361080"/>
            <a:ext cx="18374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00" b="1" u="none" strike="noStrike">
                <a:solidFill>
                  <a:srgbClr val="15A79A"/>
                </a:solidFill>
                <a:effectLst/>
                <a:uFillTx/>
                <a:latin typeface="Inter"/>
                <a:ea typeface="Inter"/>
              </a:rPr>
              <a:t>COSTO ESTIMADO</a:t>
            </a:r>
            <a:endParaRPr lang="en-US" sz="1000" b="0" u="none" strike="noStrike">
              <a:solidFill>
                <a:srgbClr val="000000"/>
              </a:solidFill>
              <a:effectLst/>
              <a:uFillTx/>
              <a:latin typeface="Arial"/>
            </a:endParaRPr>
          </a:p>
        </p:txBody>
      </p:sp>
      <p:sp>
        <p:nvSpPr>
          <p:cNvPr id="221" name="Text 2"/>
          <p:cNvSpPr/>
          <p:nvPr/>
        </p:nvSpPr>
        <p:spPr>
          <a:xfrm>
            <a:off x="502920" y="877680"/>
            <a:ext cx="10972440" cy="648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2243D"/>
                </a:solidFill>
                <a:effectLst/>
                <a:uFillTx/>
                <a:latin typeface="Inter"/>
                <a:ea typeface="Inter"/>
              </a:rPr>
              <a:t>¿Cuánto costaría una versión de laboratorio?</a:t>
            </a:r>
            <a:endParaRPr lang="en-US" sz="3400" b="0" u="none" strike="noStrike">
              <a:solidFill>
                <a:srgbClr val="000000"/>
              </a:solidFill>
              <a:effectLst/>
              <a:uFillTx/>
              <a:latin typeface="Arial"/>
            </a:endParaRPr>
          </a:p>
        </p:txBody>
      </p:sp>
      <p:sp>
        <p:nvSpPr>
          <p:cNvPr id="222" name="Text 3"/>
          <p:cNvSpPr/>
          <p:nvPr/>
        </p:nvSpPr>
        <p:spPr>
          <a:xfrm>
            <a:off x="511920" y="1591200"/>
            <a:ext cx="10789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40" b="0" u="none" strike="noStrike">
                <a:solidFill>
                  <a:srgbClr val="657389"/>
                </a:solidFill>
                <a:effectLst/>
                <a:uFillTx/>
                <a:latin typeface="Inter"/>
                <a:ea typeface="Inter"/>
              </a:rPr>
              <a:t>Un estimado orientativo, usando referencias de equipos reacondicionados.</a:t>
            </a:r>
            <a:endParaRPr lang="en-US" sz="1540" b="0" u="none" strike="noStrike">
              <a:solidFill>
                <a:srgbClr val="000000"/>
              </a:solidFill>
              <a:effectLst/>
              <a:uFillTx/>
              <a:latin typeface="Arial"/>
            </a:endParaRPr>
          </a:p>
        </p:txBody>
      </p:sp>
      <p:sp>
        <p:nvSpPr>
          <p:cNvPr id="223" name="Text 4"/>
          <p:cNvSpPr/>
          <p:nvPr/>
        </p:nvSpPr>
        <p:spPr>
          <a:xfrm>
            <a:off x="484560" y="651960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0" u="none" strike="noStrike">
                <a:solidFill>
                  <a:srgbClr val="657389"/>
                </a:solidFill>
                <a:effectLst/>
                <a:uFillTx/>
                <a:latin typeface="Inter"/>
                <a:ea typeface="Inter"/>
              </a:rPr>
              <a:t>REDES 2 · EDIN SANTIZO · 202202072</a:t>
            </a:r>
            <a:endParaRPr lang="en-US" sz="900" b="0" u="none" strike="noStrike">
              <a:solidFill>
                <a:srgbClr val="000000"/>
              </a:solidFill>
              <a:effectLst/>
              <a:uFillTx/>
              <a:latin typeface="Arial"/>
            </a:endParaRPr>
          </a:p>
        </p:txBody>
      </p:sp>
      <p:sp>
        <p:nvSpPr>
          <p:cNvPr id="224" name="Text 5"/>
          <p:cNvSpPr/>
          <p:nvPr/>
        </p:nvSpPr>
        <p:spPr>
          <a:xfrm>
            <a:off x="11064240" y="649224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900" b="0" u="none" strike="noStrike">
                <a:solidFill>
                  <a:srgbClr val="657389"/>
                </a:solidFill>
                <a:effectLst/>
                <a:uFillTx/>
                <a:latin typeface="Inter"/>
                <a:ea typeface="Inter"/>
              </a:rPr>
              <a:t>09</a:t>
            </a:r>
            <a:endParaRPr lang="en-US" sz="900" b="0" u="none" strike="noStrike">
              <a:solidFill>
                <a:srgbClr val="000000"/>
              </a:solidFill>
              <a:effectLst/>
              <a:uFillTx/>
              <a:latin typeface="Arial"/>
            </a:endParaRPr>
          </a:p>
        </p:txBody>
      </p:sp>
      <p:sp>
        <p:nvSpPr>
          <p:cNvPr id="225" name="Shape 6"/>
          <p:cNvSpPr/>
          <p:nvPr/>
        </p:nvSpPr>
        <p:spPr>
          <a:xfrm>
            <a:off x="713160" y="2212920"/>
            <a:ext cx="5047200" cy="3437640"/>
          </a:xfrm>
          <a:prstGeom prst="roundRect">
            <a:avLst>
              <a:gd name="adj" fmla="val 5319"/>
            </a:avLst>
          </a:prstGeom>
          <a:solidFill>
            <a:srgbClr val="111F34"/>
          </a:solidFill>
          <a:ln w="12700">
            <a:solidFill>
              <a:srgbClr val="111F34">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6" name="Text 7"/>
          <p:cNvSpPr/>
          <p:nvPr/>
        </p:nvSpPr>
        <p:spPr>
          <a:xfrm>
            <a:off x="1033200" y="2615040"/>
            <a:ext cx="448020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B6C7DF"/>
                </a:solidFill>
                <a:effectLst/>
                <a:uFillTx/>
                <a:latin typeface="Inter"/>
                <a:ea typeface="Inter"/>
              </a:rPr>
              <a:t>PRESUPUESTO ILUSTRATIVO</a:t>
            </a:r>
            <a:endParaRPr lang="en-US" sz="1700" b="0" u="none" strike="noStrike">
              <a:solidFill>
                <a:srgbClr val="000000"/>
              </a:solidFill>
              <a:effectLst/>
              <a:uFillTx/>
              <a:latin typeface="Arial"/>
            </a:endParaRPr>
          </a:p>
        </p:txBody>
      </p:sp>
      <p:sp>
        <p:nvSpPr>
          <p:cNvPr id="227" name="Text 8"/>
          <p:cNvSpPr/>
          <p:nvPr/>
        </p:nvSpPr>
        <p:spPr>
          <a:xfrm>
            <a:off x="1024200" y="3300840"/>
            <a:ext cx="448020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000" b="1" u="none" strike="noStrike">
                <a:solidFill>
                  <a:srgbClr val="FFFFFF"/>
                </a:solidFill>
                <a:effectLst/>
                <a:uFillTx/>
                <a:latin typeface="Inter"/>
                <a:ea typeface="Inter"/>
              </a:rPr>
              <a:t>USD 17,486</a:t>
            </a:r>
            <a:endParaRPr lang="en-US" sz="4000" b="0" u="none" strike="noStrike">
              <a:solidFill>
                <a:srgbClr val="000000"/>
              </a:solidFill>
              <a:effectLst/>
              <a:uFillTx/>
              <a:latin typeface="Arial"/>
            </a:endParaRPr>
          </a:p>
        </p:txBody>
      </p:sp>
      <p:sp>
        <p:nvSpPr>
          <p:cNvPr id="228" name="Text 9"/>
          <p:cNvSpPr/>
          <p:nvPr/>
        </p:nvSpPr>
        <p:spPr>
          <a:xfrm>
            <a:off x="1042560" y="4636080"/>
            <a:ext cx="4480200" cy="648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50" b="0" u="none" strike="noStrike">
                <a:solidFill>
                  <a:srgbClr val="C8D6EB"/>
                </a:solidFill>
                <a:effectLst/>
                <a:uFillTx/>
                <a:latin typeface="Inter"/>
                <a:ea typeface="Inter"/>
              </a:rPr>
              <a:t>Incluye una reserva de 15 %</a:t>
            </a:r>
            <a:endParaRPr lang="en-US" sz="1650" b="0" u="none" strike="noStrike">
              <a:solidFill>
                <a:srgbClr val="000000"/>
              </a:solidFill>
              <a:effectLst/>
              <a:uFillTx/>
              <a:latin typeface="Arial"/>
            </a:endParaRPr>
          </a:p>
          <a:p>
            <a:pPr defTabSz="914400">
              <a:lnSpc>
                <a:spcPct val="100000"/>
              </a:lnSpc>
              <a:tabLst>
                <a:tab pos="0" algn="l"/>
              </a:tabLst>
            </a:pPr>
            <a:r>
              <a:rPr lang="en-US" sz="1650" b="0" u="none" strike="noStrike">
                <a:solidFill>
                  <a:srgbClr val="C8D6EB"/>
                </a:solidFill>
                <a:effectLst/>
                <a:uFillTx/>
                <a:latin typeface="Inter"/>
                <a:ea typeface="Inter"/>
              </a:rPr>
              <a:t>para imprevistos.</a:t>
            </a:r>
            <a:endParaRPr lang="en-US" sz="1650" b="0" u="none" strike="noStrike">
              <a:solidFill>
                <a:srgbClr val="000000"/>
              </a:solidFill>
              <a:effectLst/>
              <a:uFillTx/>
              <a:latin typeface="Arial"/>
            </a:endParaRPr>
          </a:p>
        </p:txBody>
      </p:sp>
      <p:sp>
        <p:nvSpPr>
          <p:cNvPr id="229" name="Shape 10"/>
          <p:cNvSpPr/>
          <p:nvPr/>
        </p:nvSpPr>
        <p:spPr>
          <a:xfrm>
            <a:off x="6080760" y="2432160"/>
            <a:ext cx="5321520" cy="621360"/>
          </a:xfrm>
          <a:prstGeom prst="roundRect">
            <a:avLst>
              <a:gd name="adj" fmla="val 14706"/>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0" name="Text 11"/>
          <p:cNvSpPr/>
          <p:nvPr/>
        </p:nvSpPr>
        <p:spPr>
          <a:xfrm>
            <a:off x="6300360" y="2587680"/>
            <a:ext cx="32824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12243D"/>
                </a:solidFill>
                <a:effectLst/>
                <a:uFillTx/>
                <a:latin typeface="Inter"/>
                <a:ea typeface="Inter"/>
              </a:rPr>
              <a:t>Routers y switches</a:t>
            </a:r>
            <a:endParaRPr lang="en-US" sz="1600" b="0" u="none" strike="noStrike">
              <a:solidFill>
                <a:srgbClr val="000000"/>
              </a:solidFill>
              <a:effectLst/>
              <a:uFillTx/>
              <a:latin typeface="Arial"/>
            </a:endParaRPr>
          </a:p>
        </p:txBody>
      </p:sp>
      <p:sp>
        <p:nvSpPr>
          <p:cNvPr id="231" name="Text 12"/>
          <p:cNvSpPr/>
          <p:nvPr/>
        </p:nvSpPr>
        <p:spPr>
          <a:xfrm>
            <a:off x="9619560" y="2587680"/>
            <a:ext cx="155412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600" b="1" u="none" strike="noStrike">
                <a:solidFill>
                  <a:srgbClr val="12243D"/>
                </a:solidFill>
                <a:effectLst/>
                <a:uFillTx/>
                <a:latin typeface="Inter"/>
                <a:ea typeface="Inter"/>
              </a:rPr>
              <a:t>USD 6,085</a:t>
            </a:r>
            <a:endParaRPr lang="en-US" sz="1600" b="0" u="none" strike="noStrike">
              <a:solidFill>
                <a:srgbClr val="000000"/>
              </a:solidFill>
              <a:effectLst/>
              <a:uFillTx/>
              <a:latin typeface="Arial"/>
            </a:endParaRPr>
          </a:p>
        </p:txBody>
      </p:sp>
      <p:sp>
        <p:nvSpPr>
          <p:cNvPr id="232" name="Shape 13"/>
          <p:cNvSpPr/>
          <p:nvPr/>
        </p:nvSpPr>
        <p:spPr>
          <a:xfrm>
            <a:off x="6080760" y="3191400"/>
            <a:ext cx="5321520" cy="621360"/>
          </a:xfrm>
          <a:prstGeom prst="roundRect">
            <a:avLst>
              <a:gd name="adj" fmla="val 14706"/>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3" name="Text 14"/>
          <p:cNvSpPr/>
          <p:nvPr/>
        </p:nvSpPr>
        <p:spPr>
          <a:xfrm>
            <a:off x="6300360" y="3346560"/>
            <a:ext cx="32824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12243D"/>
                </a:solidFill>
                <a:effectLst/>
                <a:uFillTx/>
                <a:latin typeface="Inter"/>
                <a:ea typeface="Inter"/>
              </a:rPr>
              <a:t>Computadoras y laptop</a:t>
            </a:r>
            <a:endParaRPr lang="en-US" sz="1600" b="0" u="none" strike="noStrike">
              <a:solidFill>
                <a:srgbClr val="000000"/>
              </a:solidFill>
              <a:effectLst/>
              <a:uFillTx/>
              <a:latin typeface="Arial"/>
            </a:endParaRPr>
          </a:p>
        </p:txBody>
      </p:sp>
      <p:sp>
        <p:nvSpPr>
          <p:cNvPr id="234" name="Text 15"/>
          <p:cNvSpPr/>
          <p:nvPr/>
        </p:nvSpPr>
        <p:spPr>
          <a:xfrm>
            <a:off x="9619560" y="3346560"/>
            <a:ext cx="155412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600" b="1" u="none" strike="noStrike">
                <a:solidFill>
                  <a:srgbClr val="12243D"/>
                </a:solidFill>
                <a:effectLst/>
                <a:uFillTx/>
                <a:latin typeface="Inter"/>
                <a:ea typeface="Inter"/>
              </a:rPr>
              <a:t>USD 6,900</a:t>
            </a:r>
            <a:endParaRPr lang="en-US" sz="1600" b="0" u="none" strike="noStrike">
              <a:solidFill>
                <a:srgbClr val="000000"/>
              </a:solidFill>
              <a:effectLst/>
              <a:uFillTx/>
              <a:latin typeface="Arial"/>
            </a:endParaRPr>
          </a:p>
        </p:txBody>
      </p:sp>
      <p:sp>
        <p:nvSpPr>
          <p:cNvPr id="235" name="Shape 16"/>
          <p:cNvSpPr/>
          <p:nvPr/>
        </p:nvSpPr>
        <p:spPr>
          <a:xfrm>
            <a:off x="6080760" y="3950280"/>
            <a:ext cx="5321520" cy="621360"/>
          </a:xfrm>
          <a:prstGeom prst="roundRect">
            <a:avLst>
              <a:gd name="adj" fmla="val 14706"/>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6" name="Text 17"/>
          <p:cNvSpPr/>
          <p:nvPr/>
        </p:nvSpPr>
        <p:spPr>
          <a:xfrm>
            <a:off x="6300360" y="4105800"/>
            <a:ext cx="32824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12243D"/>
                </a:solidFill>
                <a:effectLst/>
                <a:uFillTx/>
                <a:latin typeface="Inter"/>
                <a:ea typeface="Inter"/>
              </a:rPr>
              <a:t>Servidores + WiFi + cableado</a:t>
            </a:r>
            <a:endParaRPr lang="en-US" sz="1600" b="0" u="none" strike="noStrike">
              <a:solidFill>
                <a:srgbClr val="000000"/>
              </a:solidFill>
              <a:effectLst/>
              <a:uFillTx/>
              <a:latin typeface="Arial"/>
            </a:endParaRPr>
          </a:p>
        </p:txBody>
      </p:sp>
      <p:sp>
        <p:nvSpPr>
          <p:cNvPr id="237" name="Text 18"/>
          <p:cNvSpPr/>
          <p:nvPr/>
        </p:nvSpPr>
        <p:spPr>
          <a:xfrm>
            <a:off x="9619560" y="4105800"/>
            <a:ext cx="155412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600" b="1" u="none" strike="noStrike">
                <a:solidFill>
                  <a:srgbClr val="12243D"/>
                </a:solidFill>
                <a:effectLst/>
                <a:uFillTx/>
                <a:latin typeface="Inter"/>
                <a:ea typeface="Inter"/>
              </a:rPr>
              <a:t>USD 2,220</a:t>
            </a:r>
            <a:endParaRPr lang="en-US" sz="1600" b="0" u="none" strike="noStrike">
              <a:solidFill>
                <a:srgbClr val="000000"/>
              </a:solidFill>
              <a:effectLst/>
              <a:uFillTx/>
              <a:latin typeface="Arial"/>
            </a:endParaRPr>
          </a:p>
        </p:txBody>
      </p:sp>
      <p:sp>
        <p:nvSpPr>
          <p:cNvPr id="238" name="Shape 19"/>
          <p:cNvSpPr/>
          <p:nvPr/>
        </p:nvSpPr>
        <p:spPr>
          <a:xfrm>
            <a:off x="6080760" y="4709160"/>
            <a:ext cx="5321520" cy="621360"/>
          </a:xfrm>
          <a:prstGeom prst="roundRect">
            <a:avLst>
              <a:gd name="adj" fmla="val 14706"/>
            </a:avLst>
          </a:prstGeom>
          <a:solidFill>
            <a:srgbClr val="FFFFFF"/>
          </a:solidFill>
          <a:ln w="12700">
            <a:solidFill>
              <a:srgbClr val="E0E6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9" name="Text 20"/>
          <p:cNvSpPr/>
          <p:nvPr/>
        </p:nvSpPr>
        <p:spPr>
          <a:xfrm>
            <a:off x="6300360" y="4864680"/>
            <a:ext cx="32824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2243D"/>
                </a:solidFill>
                <a:effectLst/>
                <a:uFillTx/>
                <a:latin typeface="Inter"/>
                <a:ea typeface="Inter"/>
              </a:rPr>
              <a:t>Reserva 15 %</a:t>
            </a:r>
            <a:endParaRPr lang="en-US" sz="1600" b="0" u="none" strike="noStrike">
              <a:solidFill>
                <a:srgbClr val="000000"/>
              </a:solidFill>
              <a:effectLst/>
              <a:uFillTx/>
              <a:latin typeface="Arial"/>
            </a:endParaRPr>
          </a:p>
        </p:txBody>
      </p:sp>
      <p:sp>
        <p:nvSpPr>
          <p:cNvPr id="240" name="Text 21"/>
          <p:cNvSpPr/>
          <p:nvPr/>
        </p:nvSpPr>
        <p:spPr>
          <a:xfrm>
            <a:off x="9619560" y="4864680"/>
            <a:ext cx="155412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600" b="1" u="none" strike="noStrike">
                <a:solidFill>
                  <a:srgbClr val="15A79A"/>
                </a:solidFill>
                <a:effectLst/>
                <a:uFillTx/>
                <a:latin typeface="Inter"/>
                <a:ea typeface="Inter"/>
              </a:rPr>
              <a:t>USD 2,281</a:t>
            </a:r>
            <a:endParaRPr lang="en-US" sz="1600" b="0" u="none" strike="noStrike">
              <a:solidFill>
                <a:srgbClr val="000000"/>
              </a:solidFill>
              <a:effectLst/>
              <a:uFillTx/>
              <a:latin typeface="Arial"/>
            </a:endParaRPr>
          </a:p>
        </p:txBody>
      </p:sp>
      <p:sp>
        <p:nvSpPr>
          <p:cNvPr id="241" name="Text 22"/>
          <p:cNvSpPr/>
          <p:nvPr/>
        </p:nvSpPr>
        <p:spPr>
          <a:xfrm>
            <a:off x="859680" y="6016680"/>
            <a:ext cx="105152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50" b="0" u="none" strike="noStrike">
                <a:solidFill>
                  <a:srgbClr val="657389"/>
                </a:solidFill>
                <a:effectLst/>
                <a:uFillTx/>
                <a:latin typeface="Inter"/>
                <a:ea typeface="Inter"/>
              </a:rPr>
              <a:t>No es una cotización de producción: faltan impuestos, licencias, mano de obra y mantenimiento.</a:t>
            </a:r>
            <a:endParaRPr lang="en-US" sz="125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F34"/>
        </a:solidFill>
        <a:effectLst/>
      </p:bgPr>
    </p:bg>
    <p:spTree>
      <p:nvGrpSpPr>
        <p:cNvPr id="1" name=""/>
        <p:cNvGrpSpPr/>
        <p:nvPr/>
      </p:nvGrpSpPr>
      <p:grpSpPr>
        <a:xfrm>
          <a:off x="0" y="0"/>
          <a:ext cx="0" cy="0"/>
          <a:chOff x="0" y="0"/>
          <a:chExt cx="0" cy="0"/>
        </a:xfrm>
      </p:grpSpPr>
      <p:sp>
        <p:nvSpPr>
          <p:cNvPr id="242" name="Shape 0"/>
          <p:cNvSpPr/>
          <p:nvPr/>
        </p:nvSpPr>
        <p:spPr>
          <a:xfrm>
            <a:off x="640080" y="493920"/>
            <a:ext cx="1846800" cy="310680"/>
          </a:xfrm>
          <a:prstGeom prst="roundRect">
            <a:avLst>
              <a:gd name="adj" fmla="val 29412"/>
            </a:avLst>
          </a:prstGeom>
          <a:solidFill>
            <a:srgbClr val="35516B"/>
          </a:solidFill>
          <a:ln w="12700">
            <a:solidFill>
              <a:srgbClr val="35516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3" name="Text 1"/>
          <p:cNvSpPr/>
          <p:nvPr/>
        </p:nvSpPr>
        <p:spPr>
          <a:xfrm>
            <a:off x="749880" y="543960"/>
            <a:ext cx="162720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a:solidFill>
                  <a:srgbClr val="111F34"/>
                </a:solidFill>
                <a:effectLst/>
                <a:uFillTx/>
                <a:latin typeface="Inter"/>
                <a:ea typeface="Inter"/>
              </a:rPr>
              <a:t>LA PROPUESTA</a:t>
            </a:r>
            <a:endParaRPr lang="en-US" sz="1100" b="0" u="none" strike="noStrike">
              <a:solidFill>
                <a:srgbClr val="FFFFFF"/>
              </a:solidFill>
              <a:effectLst/>
              <a:uFillTx/>
              <a:latin typeface="Arial"/>
            </a:endParaRPr>
          </a:p>
        </p:txBody>
      </p:sp>
      <p:sp>
        <p:nvSpPr>
          <p:cNvPr id="244" name="Text 2"/>
          <p:cNvSpPr/>
          <p:nvPr/>
        </p:nvSpPr>
        <p:spPr>
          <a:xfrm>
            <a:off x="704160" y="1078920"/>
            <a:ext cx="7314840" cy="257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900" b="1" u="none" strike="noStrike">
                <a:solidFill>
                  <a:srgbClr val="FFFFFF"/>
                </a:solidFill>
                <a:effectLst/>
                <a:uFillTx/>
                <a:latin typeface="Inter"/>
                <a:ea typeface="Inter"/>
              </a:rPr>
              <a:t>Una red que</a:t>
            </a:r>
            <a:endParaRPr lang="en-US" sz="4900" b="0" u="none" strike="noStrike">
              <a:solidFill>
                <a:srgbClr val="FFFFFF"/>
              </a:solidFill>
              <a:effectLst/>
              <a:uFillTx/>
              <a:latin typeface="Arial"/>
            </a:endParaRPr>
          </a:p>
          <a:p>
            <a:pPr defTabSz="914400">
              <a:lnSpc>
                <a:spcPct val="100000"/>
              </a:lnSpc>
              <a:tabLst>
                <a:tab pos="0" algn="l"/>
              </a:tabLst>
            </a:pPr>
            <a:r>
              <a:rPr lang="en-US" sz="4900" b="1" u="none" strike="noStrike">
                <a:solidFill>
                  <a:srgbClr val="FFFFFF"/>
                </a:solidFill>
                <a:effectLst/>
                <a:uFillTx/>
                <a:latin typeface="Inter"/>
                <a:ea typeface="Inter"/>
              </a:rPr>
              <a:t>conecta, resiste</a:t>
            </a:r>
            <a:endParaRPr lang="en-US" sz="4900" b="0" u="none" strike="noStrike">
              <a:solidFill>
                <a:srgbClr val="FFFFFF"/>
              </a:solidFill>
              <a:effectLst/>
              <a:uFillTx/>
              <a:latin typeface="Arial"/>
            </a:endParaRPr>
          </a:p>
          <a:p>
            <a:pPr defTabSz="914400">
              <a:lnSpc>
                <a:spcPct val="100000"/>
              </a:lnSpc>
              <a:tabLst>
                <a:tab pos="0" algn="l"/>
              </a:tabLst>
            </a:pPr>
            <a:r>
              <a:rPr lang="en-US" sz="4900" b="1" u="none" strike="noStrike">
                <a:solidFill>
                  <a:srgbClr val="FFFFFF"/>
                </a:solidFill>
                <a:effectLst/>
                <a:uFillTx/>
                <a:latin typeface="Inter"/>
                <a:ea typeface="Inter"/>
              </a:rPr>
              <a:t>y protege.</a:t>
            </a:r>
            <a:endParaRPr lang="en-US" sz="4900" b="0" u="none" strike="noStrike">
              <a:solidFill>
                <a:srgbClr val="FFFFFF"/>
              </a:solidFill>
              <a:effectLst/>
              <a:uFillTx/>
              <a:latin typeface="Arial"/>
            </a:endParaRPr>
          </a:p>
        </p:txBody>
      </p:sp>
      <p:sp>
        <p:nvSpPr>
          <p:cNvPr id="245" name="Shape 3"/>
          <p:cNvSpPr/>
          <p:nvPr/>
        </p:nvSpPr>
        <p:spPr>
          <a:xfrm>
            <a:off x="804600" y="4416480"/>
            <a:ext cx="10707120" cy="1014480"/>
          </a:xfrm>
          <a:prstGeom prst="roundRect">
            <a:avLst>
              <a:gd name="adj" fmla="val 20721"/>
            </a:avLst>
          </a:prstGeom>
          <a:solidFill>
            <a:srgbClr val="1E324F"/>
          </a:solidFill>
          <a:ln w="12700">
            <a:solidFill>
              <a:srgbClr val="1E324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6" name="Shape 4"/>
          <p:cNvSpPr/>
          <p:nvPr/>
        </p:nvSpPr>
        <p:spPr>
          <a:xfrm>
            <a:off x="1069920" y="4690800"/>
            <a:ext cx="456840" cy="456840"/>
          </a:xfrm>
          <a:prstGeom prst="ellipse">
            <a:avLst/>
          </a:prstGeom>
          <a:solidFill>
            <a:srgbClr val="15A79A"/>
          </a:solidFill>
          <a:ln w="12700">
            <a:solidFill>
              <a:srgbClr val="15A79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7" name="Text 5"/>
          <p:cNvSpPr/>
          <p:nvPr/>
        </p:nvSpPr>
        <p:spPr>
          <a:xfrm>
            <a:off x="1069920" y="4763880"/>
            <a:ext cx="456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11F34"/>
                </a:solidFill>
                <a:effectLst/>
                <a:uFillTx/>
                <a:latin typeface="Inter"/>
                <a:ea typeface="Inter"/>
              </a:rPr>
              <a:t>1</a:t>
            </a:r>
            <a:endParaRPr lang="en-US" sz="1500" b="0" u="none" strike="noStrike">
              <a:solidFill>
                <a:srgbClr val="FFFFFF"/>
              </a:solidFill>
              <a:effectLst/>
              <a:uFillTx/>
              <a:latin typeface="Arial"/>
            </a:endParaRPr>
          </a:p>
        </p:txBody>
      </p:sp>
      <p:sp>
        <p:nvSpPr>
          <p:cNvPr id="248" name="Text 6"/>
          <p:cNvSpPr/>
          <p:nvPr/>
        </p:nvSpPr>
        <p:spPr>
          <a:xfrm>
            <a:off x="1673280" y="4736520"/>
            <a:ext cx="25142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00" b="1" u="none" strike="noStrike">
                <a:solidFill>
                  <a:srgbClr val="FFFFFF"/>
                </a:solidFill>
                <a:effectLst/>
                <a:uFillTx/>
                <a:latin typeface="Inter"/>
                <a:ea typeface="Inter"/>
              </a:rPr>
              <a:t>CONEXIÓN</a:t>
            </a:r>
            <a:endParaRPr lang="en-US" sz="1900" b="0" u="none" strike="noStrike">
              <a:solidFill>
                <a:srgbClr val="FFFFFF"/>
              </a:solidFill>
              <a:effectLst/>
              <a:uFillTx/>
              <a:latin typeface="Arial"/>
            </a:endParaRPr>
          </a:p>
        </p:txBody>
      </p:sp>
      <p:sp>
        <p:nvSpPr>
          <p:cNvPr id="249" name="Shape 7"/>
          <p:cNvSpPr/>
          <p:nvPr/>
        </p:nvSpPr>
        <p:spPr>
          <a:xfrm>
            <a:off x="4636080" y="4690800"/>
            <a:ext cx="456840" cy="456840"/>
          </a:xfrm>
          <a:prstGeom prst="ellipse">
            <a:avLst/>
          </a:prstGeom>
          <a:solidFill>
            <a:srgbClr val="FFAA5B"/>
          </a:solidFill>
          <a:ln w="12700">
            <a:solidFill>
              <a:srgbClr val="FFAA5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0" name="Text 8"/>
          <p:cNvSpPr/>
          <p:nvPr/>
        </p:nvSpPr>
        <p:spPr>
          <a:xfrm>
            <a:off x="4636080" y="4763880"/>
            <a:ext cx="456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11F34"/>
                </a:solidFill>
                <a:effectLst/>
                <a:uFillTx/>
                <a:latin typeface="Inter"/>
                <a:ea typeface="Inter"/>
              </a:rPr>
              <a:t>2</a:t>
            </a:r>
            <a:endParaRPr lang="en-US" sz="1500" b="0" u="none" strike="noStrike">
              <a:solidFill>
                <a:srgbClr val="FFFFFF"/>
              </a:solidFill>
              <a:effectLst/>
              <a:uFillTx/>
              <a:latin typeface="Arial"/>
            </a:endParaRPr>
          </a:p>
        </p:txBody>
      </p:sp>
      <p:sp>
        <p:nvSpPr>
          <p:cNvPr id="251" name="Text 9"/>
          <p:cNvSpPr/>
          <p:nvPr/>
        </p:nvSpPr>
        <p:spPr>
          <a:xfrm>
            <a:off x="5239440" y="4736520"/>
            <a:ext cx="25142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00" b="1" u="none" strike="noStrike">
                <a:solidFill>
                  <a:srgbClr val="FFFFFF"/>
                </a:solidFill>
                <a:effectLst/>
                <a:uFillTx/>
                <a:latin typeface="Inter"/>
                <a:ea typeface="Inter"/>
              </a:rPr>
              <a:t>RESPALDO</a:t>
            </a:r>
            <a:endParaRPr lang="en-US" sz="1900" b="0" u="none" strike="noStrike">
              <a:solidFill>
                <a:srgbClr val="FFFFFF"/>
              </a:solidFill>
              <a:effectLst/>
              <a:uFillTx/>
              <a:latin typeface="Arial"/>
            </a:endParaRPr>
          </a:p>
        </p:txBody>
      </p:sp>
      <p:sp>
        <p:nvSpPr>
          <p:cNvPr id="252" name="Shape 10"/>
          <p:cNvSpPr/>
          <p:nvPr/>
        </p:nvSpPr>
        <p:spPr>
          <a:xfrm>
            <a:off x="8202240" y="4690800"/>
            <a:ext cx="456840" cy="456840"/>
          </a:xfrm>
          <a:prstGeom prst="ellipse">
            <a:avLst/>
          </a:prstGeom>
          <a:solidFill>
            <a:srgbClr val="4B7BEE"/>
          </a:solidFill>
          <a:ln w="12700">
            <a:solidFill>
              <a:srgbClr val="4B7BEE">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3" name="Text 11"/>
          <p:cNvSpPr/>
          <p:nvPr/>
        </p:nvSpPr>
        <p:spPr>
          <a:xfrm>
            <a:off x="8202240" y="4763880"/>
            <a:ext cx="4568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11F34"/>
                </a:solidFill>
                <a:effectLst/>
                <a:uFillTx/>
                <a:latin typeface="Inter"/>
                <a:ea typeface="Inter"/>
              </a:rPr>
              <a:t>3</a:t>
            </a:r>
            <a:endParaRPr lang="en-US" sz="1500" b="0" u="none" strike="noStrike">
              <a:solidFill>
                <a:srgbClr val="FFFFFF"/>
              </a:solidFill>
              <a:effectLst/>
              <a:uFillTx/>
              <a:latin typeface="Arial"/>
            </a:endParaRPr>
          </a:p>
        </p:txBody>
      </p:sp>
      <p:sp>
        <p:nvSpPr>
          <p:cNvPr id="254" name="Text 12"/>
          <p:cNvSpPr/>
          <p:nvPr/>
        </p:nvSpPr>
        <p:spPr>
          <a:xfrm>
            <a:off x="8805600" y="4736520"/>
            <a:ext cx="25142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00" b="1" u="none" strike="noStrike">
                <a:solidFill>
                  <a:srgbClr val="FFFFFF"/>
                </a:solidFill>
                <a:effectLst/>
                <a:uFillTx/>
                <a:latin typeface="Inter"/>
                <a:ea typeface="Inter"/>
              </a:rPr>
              <a:t>SEGURIDAD</a:t>
            </a:r>
            <a:endParaRPr lang="en-US" sz="1900" b="0" u="none" strike="noStrike">
              <a:solidFill>
                <a:srgbClr val="FFFFFF"/>
              </a:solidFill>
              <a:effectLst/>
              <a:uFillTx/>
              <a:latin typeface="Arial"/>
            </a:endParaRPr>
          </a:p>
        </p:txBody>
      </p:sp>
      <p:sp>
        <p:nvSpPr>
          <p:cNvPr id="255" name="Text 13"/>
          <p:cNvSpPr/>
          <p:nvPr/>
        </p:nvSpPr>
        <p:spPr>
          <a:xfrm>
            <a:off x="822960" y="5806440"/>
            <a:ext cx="1060668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0" u="none" strike="noStrike">
                <a:solidFill>
                  <a:srgbClr val="C8D6EB"/>
                </a:solidFill>
                <a:effectLst/>
                <a:uFillTx/>
                <a:latin typeface="Inter"/>
                <a:ea typeface="Inter"/>
              </a:rPr>
              <a:t>Solicitamos aprobar esta arquitectura como base de una siguiente etapa de validación.</a:t>
            </a:r>
            <a:endParaRPr lang="en-US" sz="1700" b="0" u="none" strike="noStrike">
              <a:solidFill>
                <a:srgbClr val="FFFFFF"/>
              </a:solidFill>
              <a:effectLst/>
              <a:uFillTx/>
              <a:latin typeface="Arial"/>
            </a:endParaRPr>
          </a:p>
        </p:txBody>
      </p:sp>
      <p:sp>
        <p:nvSpPr>
          <p:cNvPr id="256" name="Text 14"/>
          <p:cNvSpPr/>
          <p:nvPr/>
        </p:nvSpPr>
        <p:spPr>
          <a:xfrm>
            <a:off x="484560" y="6519600"/>
            <a:ext cx="7314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0" u="none" strike="noStrike">
                <a:solidFill>
                  <a:srgbClr val="A8B9D1"/>
                </a:solidFill>
                <a:effectLst/>
                <a:uFillTx/>
                <a:latin typeface="Inter"/>
                <a:ea typeface="Inter"/>
              </a:rPr>
              <a:t>REDES 2 · EDIN SANTIZO · 202202072</a:t>
            </a:r>
            <a:endParaRPr lang="en-US" sz="900" b="0" u="none" strike="noStrike">
              <a:solidFill>
                <a:srgbClr val="FFFFFF"/>
              </a:solidFill>
              <a:effectLst/>
              <a:uFillTx/>
              <a:latin typeface="Arial"/>
            </a:endParaRPr>
          </a:p>
        </p:txBody>
      </p:sp>
      <p:sp>
        <p:nvSpPr>
          <p:cNvPr id="257" name="Text 15"/>
          <p:cNvSpPr/>
          <p:nvPr/>
        </p:nvSpPr>
        <p:spPr>
          <a:xfrm>
            <a:off x="11064240" y="649224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900" b="0" u="none" strike="noStrike">
                <a:solidFill>
                  <a:srgbClr val="A8B9D1"/>
                </a:solidFill>
                <a:effectLst/>
                <a:uFillTx/>
                <a:latin typeface="Inter"/>
                <a:ea typeface="Inter"/>
              </a:rPr>
              <a:t>10</a:t>
            </a:r>
            <a:endParaRPr lang="en-US" sz="900" b="0" u="none" strike="noStrike">
              <a:solidFill>
                <a:srgbClr val="FFFFFF"/>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majorFont>
      <a:minorFont>
        <a:latin typeface="Inter"/>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1758</Words>
  <Application>Microsoft Office PowerPoint</Application>
  <PresentationFormat>Panorámica</PresentationFormat>
  <Paragraphs>191</Paragraphs>
  <Slides>10</Slides>
  <Notes>10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Arial</vt:lpstr>
      <vt:lpstr>Inter</vt:lpstr>
      <vt:lpstr>Symbol</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de San Carlos de Guatemala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Edin Santizo</dc:creator>
  <cp:lastModifiedBy>Edin Santizo</cp:lastModifiedBy>
  <cp:revision>1</cp:revision>
  <dcterms:modified xsi:type="dcterms:W3CDTF">2026-10-24T04:50:01Z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2026-10-24T03:57:18Z</dcterms:created>
  <dc:creator>Edin Rafael Santizo Barrera</dc:creator>
  <dc:description/>
  <dc:language>en-US</dc:language>
  <cp:lastModifiedBy>Edin Rafael Santizo Barrera</cp:lastModifiedBy>
  <dcterms:modified xsi:type="dcterms:W3CDTF">2026-10-24T03:57:18Z</dcterms:modified>
  <cp:revision>1</cp:revision>
  <dc:subject>Proyecto 2 Redes de Computadoras 2 - presentacion intuitiva</dc:subject>
  <dc:title>Tres empresas, una sola red - Proyecto 2</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10</vt:r8>
  </property>
  <property fmtid="{D5CDD505-2E9C-101B-9397-08002B2CF9AE}" pid="3" name="PresentationFormat">
    <vt:lpwstr>On-screen Show (16:9)</vt:lpwstr>
  </property>
  <property fmtid="{D5CDD505-2E9C-101B-9397-08002B2CF9AE}" pid="4" name="Slides">
    <vt:r8>10</vt:r8>
  </property>
</Properties>
</file>